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60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Roy T. Fielding, REST as architectural style: https://www.ics.uci.edu/~fielding/pubs/webarch_icse2000.pdf
- W3C SOAP Specifications: https://www.w3.org/TR/soap/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Roy T. Fielding dissertation / REST architectural style: https://ics.uci.edu/~fielding/pubs/dissertation/top.htm
- Express routing and HTTP methods: https://expressjs.com/en/guide/routing.html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W3C SOAP Specifications: https://www.w3.org/TR/soap/
- SOAP Version 1.2 Part 0 Primer: https://www.w3.org/TR/soap12-part0/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 background from Roy Fielding: https://www.ics.uci.edu/~fielding/pubs/webarch_icse2000.pdf
- SOAP overview and status from W3C: https://www.w3.org/TR/soap/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Express routing and HTTP methods: https://expressjs.com/en/guide/routing.html
- Express response methods including res.json(): https://expressjs.com/en/guide/routing.html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Flask quickstart: https://flask.palletsprojects.com/en/stable/quickstart/
- Requests quickstart / JSON responses: https://requests.readthedocs.io/en/latest/user/quickstart/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3d_rendered_digital_illustration_serves_as_the_t.png"/>
          <p:cNvPicPr>
            <a:picLocks noChangeAspect="1"/>
          </p:cNvPicPr>
          <p:nvPr/>
        </p:nvPicPr>
        <p:blipFill>
          <a:blip r:embed="rId3">
            <a:alphaModFix amt="96000"/>
          </a:blip>
          <a:srcRect r="2817" b="18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B1F3A">
              <a:alpha val="82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1"/>
          <p:cNvSpPr/>
          <p:nvPr/>
        </p:nvSpPr>
        <p:spPr>
          <a:xfrm>
            <a:off x="548640" y="822960"/>
            <a:ext cx="1463040" cy="201168"/>
          </a:xfrm>
          <a:prstGeom prst="rect">
            <a:avLst/>
          </a:prstGeom>
          <a:solidFill>
            <a:srgbClr val="FF8A34"/>
          </a:solidFill>
          <a:ln w="12700">
            <a:solidFill>
              <a:srgbClr val="FF8A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API vs SOAP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0FF"/>
                </a:solidFill>
              </a:rPr>
              <a:t>Construir, consumir, explicar y demostrar servicios web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F0FF"/>
                </a:solidFill>
              </a:rPr>
              <a:t>con ejemplo práctico en Node.js y Flask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6035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7F5"/>
                </a:solidFill>
              </a:rPr>
              <a:t>Presentación lista para exponer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exposición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Qué es REST, qué es SOAP, cómo se comparan y cómo consumir una API REST desde Flask.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Ruta de la presentación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8838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48B"/>
                </a:solidFill>
              </a:rPr>
              <a:t>La idea es ir de lo conceptual a lo práctico.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19659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142232" y="2148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A34"/>
                </a:solidFill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42232" y="2633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Explicar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42232" y="309067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Definición de servicio web, API, REST y SOAP.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65392" y="2148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A34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65392" y="2633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Comparar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65392" y="309067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Ventajas, desventajas y escenarios donde conviene cada uno.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23960" y="19659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988552" y="2148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A34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88552" y="2633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Demostrar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988552" y="309067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API en Node.js + Flask usando HTTP y JSON.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5760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748B"/>
                </a:solidFill>
              </a:rPr>
              <a:t>Resultado esperado: entender la diferencia y tener un ejemplo funcional fácil de replicar.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servicio web?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Un mecanismo para que aplicaciones distintas se comuniquen a través de una red.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14996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2916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Interfaz que expone funciones o datos para que otro sistema los utilice.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6974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2825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99816"/>
            <a:ext cx="29169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Estilo arquitectónico: usa HTTP, recursos, URIs, métodos como GET/POST y normalmente JSON.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3434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22960" y="44714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SOAP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745736"/>
            <a:ext cx="29169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Protocolo formal de mensajería: usa XML y contratos estrictos; suele apoyarse en WSDL.</a:t>
            </a:r>
            <a:endParaRPr lang="en-US" sz="1250" dirty="0"/>
          </a:p>
        </p:txBody>
      </p:sp>
      <p:pic>
        <p:nvPicPr>
          <p:cNvPr id="14" name="Image 0" descr="/mnt/data/a_2d_digital_illustration_in_modern_flat_design_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33500"/>
            <a:ext cx="7178040" cy="47853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26280" y="55778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Ambos permiten integración entre sistemas; la diferencia está en el nivel de formalidad, complejidad y formato del mensaje.</a:t>
            </a:r>
          </a:p>
        </p:txBody>
      </p:sp>
      <p:sp>
        <p:nvSpPr>
          <p:cNvPr id="17" name="Text 1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API: cómo funciona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Se centra en recursos y aprovecha directamente las capacidades del protocolo HTTP.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160520" cy="45262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Principios más visibles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520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Cada dato se modela como un recurso: /users, /orders, /products.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La operación depende del método HTTP: GET, POST, PUT, DELETE.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Es stateless: cada petición lleva lo necesario para procesarse.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Aprovecha caché, códigos de estado y cabeceras HTTP.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Lo más común hoy es intercambiar JSON por ser ligero y simple.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74920" y="1417320"/>
            <a:ext cx="2926080" cy="1828800"/>
          </a:xfrm>
          <a:prstGeom prst="roundRect">
            <a:avLst>
              <a:gd name="adj" fmla="val 2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285232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/api/products/2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83880" y="1965960"/>
            <a:ext cx="640080" cy="640080"/>
          </a:xfrm>
          <a:prstGeom prst="chevron">
            <a:avLst/>
          </a:prstGeom>
          <a:solidFill>
            <a:srgbClr val="FF8A34"/>
          </a:solidFill>
          <a:ln w="12700">
            <a:solidFill>
              <a:srgbClr val="FF8A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9006840" y="1417320"/>
            <a:ext cx="25146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9235440" y="171907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2,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"Mouse",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"price": 25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74920" y="37033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239512" y="38313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Ventaja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9512" y="4105656"/>
            <a:ext cx="1682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Muy fácil de consumir desde navegador, móvil, backend o scripts.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37033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434072" y="38313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Costo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34072" y="4105656"/>
            <a:ext cx="1682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Menor complejidad de desarrollo y depuración.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64040" y="37033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628632" y="38313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Ideal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28632" y="4105656"/>
            <a:ext cx="1682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Microservicios, apps web y APIs públicas.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 Web Service: cómo funciona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SOAP define una estructura formal de mensajes XML y un contrato más rígido entre cliente y servidor.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794760" cy="47091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337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&lt;soapenv:Envelope&gt;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&lt;soapenv:Header/&gt;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&lt;soapenv:Body&gt;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&lt;GetProduct&gt;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&lt;Id&gt;2&lt;/Id&gt;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&lt;/GetProduct&gt;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&lt;/soapenv:Body&gt;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&lt;/soapenv:Envelope&gt;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Mensaje SOAP (XML)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48B"/>
                </a:solidFill>
              </a:rPr>
              <a:t>Más verboso, pero muy explícito.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10912" y="159105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Contrato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10912" y="186537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WSDL describe operaciones, tipos y mensajes.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1463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205472" y="159105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Formato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05472" y="186537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XML estructurado en Envelope, Header y Body.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35440" y="1463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9400032" y="159105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Escenario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00032" y="186537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Entornos empresariales con reglas estrictas.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Fortalezas típicas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3246120"/>
            <a:ext cx="621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Contrato formal entre sistemas.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Buena interoperabilidad en stacks corporativos.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Suele integrarse con WS-Security y otras extensiones empresariales.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Muy usado en banca, gobierno, ERPs y sistemas legacy.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vs SOAP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No se trata de cuál es “mejor”, sino de cuál se adapta mejor al problema.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011680" cy="4480560"/>
          </a:xfrm>
          <a:prstGeom prst="roundRect">
            <a:avLst>
              <a:gd name="adj" fmla="val 272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6012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Criterio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8"/>
                </a:solidFill>
              </a:rPr>
              <a:t>Naturaleza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8"/>
                </a:solidFill>
              </a:rPr>
              <a:t>Formato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82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8"/>
                </a:solidFill>
              </a:rPr>
              <a:t>Complejidad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8"/>
                </a:solidFill>
              </a:rPr>
              <a:t>Rendimiento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416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8"/>
                </a:solidFill>
              </a:rPr>
              <a:t>Seguridad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F8"/>
                </a:solidFill>
              </a:rPr>
              <a:t>Uso típico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24912" y="1325880"/>
            <a:ext cx="3886200" cy="4480560"/>
          </a:xfrm>
          <a:prstGeom prst="roundRect">
            <a:avLst>
              <a:gd name="adj" fmla="val 1412"/>
            </a:avLst>
          </a:prstGeom>
          <a:solidFill>
            <a:srgbClr val="EAF1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25196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</a:rPr>
              <a:t>REST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71800" y="2148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Estilo arquitectónico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71800" y="2715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JSON (normalmente)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71800" y="3282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Más simple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71800" y="3849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Más ligero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71800" y="4416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Depende de HTTP/OAuth/JWT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71800" y="4983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Apps web, móviles, microservicios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02552" y="1325880"/>
            <a:ext cx="3886200" cy="4480560"/>
          </a:xfrm>
          <a:prstGeom prst="roundRect">
            <a:avLst>
              <a:gd name="adj" fmla="val 1412"/>
            </a:avLst>
          </a:prstGeom>
          <a:solidFill>
            <a:srgbClr val="FFF1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18388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A34"/>
                </a:solidFill>
              </a:rPr>
              <a:t>SOAP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2148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Protocolo de mensajería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2715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XML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49440" y="3282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Más formal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49440" y="3849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Más pesado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49440" y="4416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WS-Security y estándares WS-*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9440" y="4983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213D"/>
                </a:solidFill>
              </a:rPr>
              <a:t>Banca, legacy, integración corporativa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748B"/>
                </a:solidFill>
              </a:rPr>
              <a:t>Regla práctica: si necesitas rapidez, simplicidad y frontends modernos → REST. Si necesitas contratos rígidos y estándares empresariales → SOAP.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Demostración práctica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Arquitectura del ejemplo: una API REST en Node.js y un cliente Flask que la consume.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Flujo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Node.js + Express expone /api/products y responde JSON.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Flask hace requests HTTP hacia la API.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El navegador entra al cliente Flask y ve datos traídos desde Node.js.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Esto demuestra cómo construir y consumir una API REST real.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87552" y="47457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Puerto 3000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5020056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Servidor Node.js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0" y="46177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907792" y="47457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Puerto 5001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07792" y="5020056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Cliente Flask</a:t>
            </a:r>
            <a:endParaRPr lang="en-US" sz="1250" dirty="0"/>
          </a:p>
        </p:txBody>
      </p:sp>
      <p:pic>
        <p:nvPicPr>
          <p:cNvPr id="13" name="Image 0" descr="/mnt/data/a_2d_digital_illustration_compares_node.js_api_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92580"/>
            <a:ext cx="6812280" cy="4541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1: construir la API con Node.js + Express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La API expone endpoints HTTP y responde datos JSON.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995160" cy="5074920"/>
          </a:xfrm>
          <a:prstGeom prst="roundRect">
            <a:avLst>
              <a:gd name="adj" fmla="val 90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6446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express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'express'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express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'Laptop'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1200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'Mouse'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'/api/products'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'/api/products/:id'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'No encontrado'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'/api/products'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nuevo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'API en puerto 3000'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1463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982712" y="15910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Endpoints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82712" y="1865376"/>
            <a:ext cx="3282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GET /api/products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GET /api/products/:id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POST /api/products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18120" y="26974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982712" y="282549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Por qué funciona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82712" y="3099816"/>
            <a:ext cx="3282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Express asocia un método HTTP con una ruta y devuelve la respuesta con res.json().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38404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982712" y="396849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Prueba rápida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82712" y="4242816"/>
            <a:ext cx="3282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curl http://localhost:3000/api/products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18120" y="49834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982712" y="511149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Instalación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82712" y="5385816"/>
            <a:ext cx="3282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npm init -y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npm install express cors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2: consumir la API con Flask + requests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Flask actúa como cliente intermedio: consulta la API de Node.js y presenta la respuesta.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0" y="1298448"/>
            <a:ext cx="7086600" cy="5074920"/>
          </a:xfrm>
          <a:prstGeom prst="roundRect">
            <a:avLst>
              <a:gd name="adj" fmla="val 90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846320" y="1508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1783080"/>
            <a:ext cx="64922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flask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jsonify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__name__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API_URL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'http://localhost:3000/api/products'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API_URL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jsonify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'consumer'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'flask'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'products'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__name__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'__main__'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debug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Qué hace Flask aquí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291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4213D"/>
                </a:solidFill>
              </a:rPr>
              <a:t>Usa requests.get() para llamar a la API REST.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4213D"/>
                </a:solidFill>
              </a:rPr>
              <a:t>Convierte la respuesta JSON con r.json().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4213D"/>
                </a:solidFill>
              </a:rPr>
              <a:t>Puede reenviar esos datos al navegador o renderizarlos en HTML.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4213D"/>
                </a:solidFill>
              </a:rPr>
              <a:t>Sirve como ejemplo simple de consumidor REST en Python.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47548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41832" y="48828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Instalación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5157216"/>
            <a:ext cx="29169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pip install Flask requests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python app.py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Demostración del consumo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48B"/>
                </a:solidFill>
              </a:rPr>
              <a:t>Así se ve una llamada REST en la práctica y cómo contrasta con un mensaje SOAP.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EFF"/>
                </a:solidFill>
              </a:rPr>
              <a:t>REST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http://localhost:3000/api/products/2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4572000" cy="2606040"/>
          </a:xfrm>
          <a:prstGeom prst="roundRect">
            <a:avLst>
              <a:gd name="adj" fmla="val 1404"/>
            </a:avLst>
          </a:prstGeom>
          <a:solidFill>
            <a:srgbClr val="F7FAFF"/>
          </a:solidFill>
          <a:ln w="1270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2,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"Mouse",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"price": 25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92240" y="1664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34"/>
                </a:solidFill>
              </a:rPr>
              <a:t>SOAP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&lt;soapenv:Envelope&gt; ... &lt;GetProduct&gt;&lt;Id&gt;2&lt;/Id&gt;&lt;/GetProduct&gt; ...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468880"/>
            <a:ext cx="4526280" cy="2606040"/>
          </a:xfrm>
          <a:prstGeom prst="roundRect">
            <a:avLst>
              <a:gd name="adj" fmla="val 1404"/>
            </a:avLst>
          </a:prstGeom>
          <a:solidFill>
            <a:srgbClr val="FFF8F2"/>
          </a:solidFill>
          <a:ln w="12700">
            <a:solidFill>
              <a:srgbClr val="F4D3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812280" y="29718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Más etiquetas XML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Más estructura de mensaje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Más formalidad contractual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5748B"/>
                </a:solidFill>
              </a:rPr>
              <a:t>La diferencia visual ya muestra la idea clave: REST tiende a ser más directo; SOAP, más estructurado y pesado.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16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1F2"/>
                </a:solidFill>
              </a:rPr>
              <a:t>Qué debes recordar para tu exposición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96112" y="195681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1. REST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231136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Más simple, ligero y ampliamente usado para APIs modernas.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96112" y="351129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2. SOAP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785616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Más formal, con XML y contratos fuertes; útil en integración empresarial.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96112" y="50657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3.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5340096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</a:rPr>
              <a:t>Node.js expone; Flask consume.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6812280" cy="4526280"/>
          </a:xfrm>
          <a:prstGeom prst="roundRect">
            <a:avLst>
              <a:gd name="adj" fmla="val 1212"/>
            </a:avLst>
          </a:prstGeom>
          <a:solidFill>
            <a:srgbClr val="102849"/>
          </a:solidFill>
          <a:ln w="12700">
            <a:solidFill>
              <a:srgbClr val="34507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892040" y="2148840"/>
            <a:ext cx="5989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Si tu profesor pregunta “cuál usar”, responde: depende del contexto del negocio y del nivel de formalidad requerido.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Si el enfoque es velocidad de desarrollo y consumo sencillo, REST suele ser la primera opción.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Si el entorno exige contratos estrictos, interoperabilidad corporativa y estándares WS-*, SOAP sigue siendo válido.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La demo con Node.js y Flask muestra un caso real de comunicación entre servicios usando HTTP + JSON.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738360" y="6263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26B"/>
                </a:solidFill>
              </a:rPr>
              <a:t>Gracias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D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1826</Words>
  <Application>Microsoft Office PowerPoint</Application>
  <PresentationFormat>Panorámica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vs SOAP + Demo Node.js y Flask</dc:title>
  <dc:subject>Comparación REST vs SOAP con ejemplo práctico</dc:subject>
  <dc:creator>OpenAI</dc:creator>
  <cp:lastModifiedBy>angel vega</cp:lastModifiedBy>
  <cp:revision>2</cp:revision>
  <dcterms:created xsi:type="dcterms:W3CDTF">2026-03-09T23:26:16Z</dcterms:created>
  <dcterms:modified xsi:type="dcterms:W3CDTF">2026-03-10T00:15:49Z</dcterms:modified>
</cp:coreProperties>
</file>