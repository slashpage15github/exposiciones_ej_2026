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2"/>
  </p:sldMasterIdLst>
  <p:notesMasterIdLst>
    <p:notesMasterId r:id="rId16"/>
  </p:notesMasterIdLst>
  <p:handoutMasterIdLst>
    <p:handoutMasterId r:id="rId17"/>
  </p:handoutMasterIdLst>
  <p:sldIdLst>
    <p:sldId id="259" r:id="rId3"/>
    <p:sldId id="260" r:id="rId4"/>
    <p:sldId id="261" r:id="rId5"/>
    <p:sldId id="265" r:id="rId6"/>
    <p:sldId id="266" r:id="rId7"/>
    <p:sldId id="262" r:id="rId8"/>
    <p:sldId id="267" r:id="rId9"/>
    <p:sldId id="263" r:id="rId10"/>
    <p:sldId id="264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6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2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CF323-270F-40CB-AF7A-2CC26EA6359D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8FF5F-08C6-42CE-9569-5553047FA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4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AAEB5-4261-4237-8ADA-E8D5149DBCD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D280D-8141-4FE3-84FA-10127734B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3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D280D-8141-4FE3-84FA-10127734B4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76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804383" y="2931219"/>
            <a:ext cx="128016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3BCB2B-1AF8-4FC0-8A17-C0E6D40426BF}" type="datetime1">
              <a:rPr lang="en-US" smtClean="0"/>
              <a:t>8/22/2025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8077183" y="2930267"/>
            <a:ext cx="17272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361748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599" y="2624917"/>
            <a:ext cx="7247467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126867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023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432590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tx1"/>
                </a:solidFill>
              </a:defRPr>
            </a:lvl1pPr>
          </a:lstStyle>
          <a:p>
            <a:fld id="{AEF53E84-C9AC-42E6-BCCB-90EC2A56B8E3}" type="datetime1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432590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329018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8823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3FA8F-E4AE-4BCB-ADE0-9DECA7A16747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accent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028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A8D5-A1EF-4995-BB5E-D278733DC501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39989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39989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258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>
          <a:xfrm>
            <a:off x="8782048" y="466456"/>
            <a:ext cx="1276352" cy="457200"/>
          </a:xfrm>
        </p:spPr>
        <p:txBody>
          <a:bodyPr rtlCol="0"/>
          <a:lstStyle/>
          <a:p>
            <a:fld id="{1EA8C313-C41C-438F-9ABA-0F5C940ADB13}" type="datetime1">
              <a:rPr lang="en-US" smtClean="0"/>
              <a:t>8/22/2025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>
          <a:xfrm>
            <a:off x="10899648" y="362884"/>
            <a:ext cx="1016000" cy="365760"/>
          </a:xfrm>
        </p:spPr>
        <p:txBody>
          <a:bodyPr rtlCol="0"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>
          <a:xfrm>
            <a:off x="7010400" y="466456"/>
            <a:ext cx="1767840" cy="457200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36985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1906310"/>
            <a:ext cx="5389033" cy="457200"/>
          </a:xfrm>
          <a:solidFill>
            <a:schemeClr val="bg1">
              <a:alpha val="25000"/>
            </a:schemeClr>
          </a:solidFill>
          <a:ln w="12700">
            <a:noFill/>
          </a:ln>
        </p:spPr>
        <p:txBody>
          <a:bodyPr anchor="ctr">
            <a:noAutofit/>
          </a:bodyPr>
          <a:lstStyle>
            <a:lvl1pPr marL="45720" indent="0">
              <a:buNone/>
              <a:defRPr sz="1900" b="0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36985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906310"/>
            <a:ext cx="5388864" cy="457200"/>
          </a:xfrm>
          <a:solidFill>
            <a:schemeClr val="bg1">
              <a:alpha val="25000"/>
            </a:schemeClr>
          </a:solidFill>
          <a:ln w="12700">
            <a:noFill/>
          </a:ln>
        </p:spPr>
        <p:txBody>
          <a:bodyPr anchor="ctr">
            <a:noAutofit/>
          </a:bodyPr>
          <a:lstStyle>
            <a:lvl1pPr marL="45720" indent="0">
              <a:buNone/>
              <a:defRPr sz="1900" b="0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80434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89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432590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tx2"/>
                </a:solidFill>
              </a:defRPr>
            </a:lvl1pPr>
          </a:lstStyle>
          <a:p>
            <a:fld id="{BCD7CAB1-3B26-4557-B57F-DA3E294B9278}" type="datetime1">
              <a:rPr lang="en-US" smtClean="0"/>
              <a:t>8/22/2025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432590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329018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chemeClr val="bg2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935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941E0-B930-4E4F-B101-1077B3800E20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3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0AC2-8591-468F-9A21-0A84DF454DEF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73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9968-A8E7-4C22-B7AC-58FCBCCC98E9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74478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C92A-CAD7-4B96-8A25-64B92E050815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423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F62-EA7E-4D70-AF22-BD86757D3155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19042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19042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863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432590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tx1"/>
                </a:solidFill>
              </a:defRPr>
            </a:lvl1pPr>
          </a:lstStyle>
          <a:p>
            <a:fld id="{5739D9E8-B0FF-4E40-8A65-1C1B44D4BA58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432590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329018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chemeClr val="bg2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927697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821273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559180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1">
            <a:lumMod val="40000"/>
            <a:lumOff val="60000"/>
          </a:schemeClr>
        </a:buClr>
        <a:buSzPct val="60000"/>
        <a:buFont typeface="Wingdings 3" panose="05040102010807070707" pitchFamily="18" charset="2"/>
        <a:buChar char="u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1">
            <a:lumMod val="40000"/>
            <a:lumOff val="60000"/>
          </a:schemeClr>
        </a:buClr>
        <a:buSzPct val="60000"/>
        <a:buFont typeface="Wingdings 3" panose="05040102010807070707" pitchFamily="18" charset="2"/>
        <a:buChar char="u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40000"/>
            <a:lumOff val="60000"/>
          </a:schemeClr>
        </a:buClr>
        <a:buSzPct val="60000"/>
        <a:buFont typeface="Wingdings 3" panose="05040102010807070707" pitchFamily="18" charset="2"/>
        <a:buChar char="u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40000"/>
            <a:lumOff val="60000"/>
          </a:schemeClr>
        </a:buClr>
        <a:buSzPct val="60000"/>
        <a:buFont typeface="Wingdings 3" panose="05040102010807070707" pitchFamily="18" charset="2"/>
        <a:buChar char="u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40000"/>
            <a:lumOff val="60000"/>
          </a:schemeClr>
        </a:buClr>
        <a:buSzPct val="60000"/>
        <a:buFont typeface="Wingdings 3" panose="05040102010807070707" pitchFamily="18" charset="2"/>
        <a:buChar char="u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40000"/>
            <a:lumOff val="60000"/>
          </a:schemeClr>
        </a:buClr>
        <a:buSzPct val="60000"/>
        <a:buFont typeface="Wingdings 3" panose="05040102010807070707" pitchFamily="18" charset="2"/>
        <a:buChar char="u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40000"/>
            <a:lumOff val="60000"/>
          </a:schemeClr>
        </a:buClr>
        <a:buSzPct val="60000"/>
        <a:buFont typeface="Wingdings 3" panose="05040102010807070707" pitchFamily="18" charset="2"/>
        <a:buChar char="u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40000"/>
            <a:lumOff val="60000"/>
          </a:schemeClr>
        </a:buClr>
        <a:buSzPct val="60000"/>
        <a:buFont typeface="Wingdings 3" panose="05040102010807070707" pitchFamily="18" charset="2"/>
        <a:buChar char="u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40000"/>
            <a:lumOff val="60000"/>
          </a:schemeClr>
        </a:buClr>
        <a:buSzPct val="60000"/>
        <a:buFont typeface="Wingdings 3" panose="05040102010807070707" pitchFamily="18" charset="2"/>
        <a:buChar char="u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384" userDrawn="1">
          <p15:clr>
            <a:srgbClr val="F26B43"/>
          </p15:clr>
        </p15:guide>
        <p15:guide id="3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ipengineer.net/2015/04/git-for-network-engineers/" TargetMode="Externa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pen-electronics.org/what-can-open-source-hardware-learn-from-software/" TargetMode="External"/><Relationship Id="rId5" Type="http://schemas.openxmlformats.org/officeDocument/2006/relationships/image" Target="../media/image6.jpeg"/><Relationship Id="rId4" Type="http://schemas.openxmlformats.org/officeDocument/2006/relationships/hyperlink" Target="https://about.gitlab.com/gitlab-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/NOM-REPO.gi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ttings/token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GANIZACION/REPO.git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3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Concepto</a:t>
            </a:r>
            <a:r>
              <a:rPr lang="en-US" sz="3200" dirty="0"/>
              <a:t> y </a:t>
            </a:r>
            <a:r>
              <a:rPr lang="en-US" sz="3200" dirty="0" err="1"/>
              <a:t>herramientas</a:t>
            </a:r>
            <a:r>
              <a:rPr lang="en-US" sz="320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Control de </a:t>
            </a:r>
            <a:r>
              <a:rPr lang="en-US" sz="5400" dirty="0" err="1"/>
              <a:t>versiones</a:t>
            </a:r>
            <a:r>
              <a:rPr lang="en-US" sz="5400" dirty="0"/>
              <a:t> Git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7FED8-0F6B-4563-A7C3-41F1B391E2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409043" y="619539"/>
            <a:ext cx="2782957" cy="27829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F2BFE3-4C31-4BB2-AE6B-3DD8F156B14B}"/>
              </a:ext>
            </a:extLst>
          </p:cNvPr>
          <p:cNvSpPr txBox="1"/>
          <p:nvPr/>
        </p:nvSpPr>
        <p:spPr>
          <a:xfrm>
            <a:off x="4015408" y="6488668"/>
            <a:ext cx="278295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s-MX" sz="900" dirty="0"/>
              <a:t>U . A. de C. -  Facultad De Sistemas – Ing. David Pérez Tinoco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784D9-1980-4287-9608-D9520366BAE8}"/>
              </a:ext>
            </a:extLst>
          </p:cNvPr>
          <p:cNvSpPr txBox="1"/>
          <p:nvPr/>
        </p:nvSpPr>
        <p:spPr>
          <a:xfrm>
            <a:off x="309454" y="4107879"/>
            <a:ext cx="11511485" cy="120032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s-ES" b="1" dirty="0"/>
              <a:t>Los repositorios de código se han convertido, desde hace ya un buen tiempo, en una herramienta </a:t>
            </a:r>
          </a:p>
          <a:p>
            <a:r>
              <a:rPr lang="es-ES" b="1" dirty="0"/>
              <a:t>de gran ayuda para los desarrolladores, especialmente cuando los equipos de trabajo son grandes. </a:t>
            </a:r>
          </a:p>
          <a:p>
            <a:r>
              <a:rPr lang="es-ES" b="1" dirty="0"/>
              <a:t>Por lo tanto, no es necesario demostrar que el uso de un repositorio ayuda mucho en el desarrollo </a:t>
            </a:r>
          </a:p>
          <a:p>
            <a:r>
              <a:rPr lang="es-ES" b="1" dirty="0"/>
              <a:t>de proyectos. 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49766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fontAlgn="base">
              <a:buNone/>
            </a:pPr>
            <a:r>
              <a:rPr lang="es-ES" dirty="0"/>
              <a:t>Un sistema de control de versiones puede ser de tres tipos:</a:t>
            </a:r>
          </a:p>
          <a:p>
            <a:pPr fontAlgn="base"/>
            <a:r>
              <a:rPr lang="es-ES" dirty="0"/>
              <a:t>Local: Todos los desarrolladores se encuentran en el mismo sistema de archivos.</a:t>
            </a:r>
          </a:p>
          <a:p>
            <a:pPr fontAlgn="base"/>
            <a:r>
              <a:rPr lang="es-ES" dirty="0"/>
              <a:t>Centralizado: Se tiene una copia del proyecto en un servidor central y los integrantes del equipo realizan una actualización de estos archivos de acuerdo a los cambios que realizan.</a:t>
            </a:r>
          </a:p>
          <a:p>
            <a:pPr fontAlgn="base"/>
            <a:r>
              <a:rPr lang="es-ES" dirty="0"/>
              <a:t>Distribuido: Los desarrolladores trabajan en su repositorio local y los cambios se actualizan entre repositorios.</a:t>
            </a:r>
          </a:p>
          <a:p>
            <a:pPr marL="109728" lvl="0" indent="0">
              <a:buNone/>
            </a:pP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s-ES" dirty="0">
                <a:solidFill>
                  <a:schemeClr val="accent2"/>
                </a:solidFill>
              </a:rPr>
              <a:t>¿Que características tiene un buen repositorio?</a:t>
            </a:r>
          </a:p>
        </p:txBody>
      </p:sp>
      <p:pic>
        <p:nvPicPr>
          <p:cNvPr id="4" name="Picture 3" descr="A picture containing aircraft, balloon, transport&#10;&#10;Description generated with very high confidence">
            <a:extLst>
              <a:ext uri="{FF2B5EF4-FFF2-40B4-BE49-F238E27FC236}">
                <a16:creationId xmlns:a16="http://schemas.microsoft.com/office/drawing/2014/main" id="{53A6D010-DB3B-479F-9CAE-5D7850E856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674626" y="0"/>
            <a:ext cx="1517374" cy="1062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0CC0E1-2E96-425A-B8F3-FD5032B299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775708" y="0"/>
            <a:ext cx="1062162" cy="10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2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 and Content Layout with Chart"/>
          <p:cNvSpPr>
            <a:spLocks noGrp="1"/>
          </p:cNvSpPr>
          <p:nvPr>
            <p:ph type="title"/>
          </p:nvPr>
        </p:nvSpPr>
        <p:spPr>
          <a:xfrm>
            <a:off x="0" y="79165"/>
            <a:ext cx="10972800" cy="45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Pasos para </a:t>
            </a:r>
            <a:r>
              <a:rPr lang="en-US" b="1" dirty="0" err="1"/>
              <a:t>asignar</a:t>
            </a:r>
            <a:r>
              <a:rPr lang="en-US" b="1" dirty="0"/>
              <a:t> </a:t>
            </a:r>
            <a:r>
              <a:rPr lang="en-US" b="1" dirty="0" err="1"/>
              <a:t>proyecto</a:t>
            </a:r>
            <a:r>
              <a:rPr lang="en-US" b="1" dirty="0"/>
              <a:t> local al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2E1E1-60BA-4C4E-814C-EAB5EC3DB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43897"/>
            <a:ext cx="10972800" cy="5308912"/>
          </a:xfrm>
        </p:spPr>
        <p:txBody>
          <a:bodyPr>
            <a:noAutofit/>
          </a:bodyPr>
          <a:lstStyle/>
          <a:p>
            <a:r>
              <a:rPr lang="es-MX" sz="1400" b="1" dirty="0"/>
              <a:t>Crear cuenta en github.com</a:t>
            </a:r>
          </a:p>
          <a:p>
            <a:r>
              <a:rPr lang="es-MX" sz="1400" b="1" dirty="0"/>
              <a:t>Crear proyecto(repositorio) en </a:t>
            </a:r>
            <a:r>
              <a:rPr lang="es-MX" sz="1400" b="1" dirty="0" err="1"/>
              <a:t>github</a:t>
            </a:r>
            <a:r>
              <a:rPr lang="es-MX" sz="1400" b="1" dirty="0"/>
              <a:t>   (Aquí da las instrucciones para asignar)</a:t>
            </a:r>
          </a:p>
          <a:p>
            <a:pPr marL="109728" indent="0">
              <a:buNone/>
            </a:pPr>
            <a:endParaRPr lang="es-MX" sz="1400" b="1" dirty="0"/>
          </a:p>
          <a:p>
            <a:pPr marL="109728" indent="0">
              <a:buNone/>
            </a:pPr>
            <a:r>
              <a:rPr lang="es-MX" sz="1400" b="1" dirty="0"/>
              <a:t>	En la consola de tu proyecto en  Visual </a:t>
            </a:r>
            <a:r>
              <a:rPr lang="es-MX" sz="1400" b="1" dirty="0" err="1"/>
              <a:t>Code</a:t>
            </a:r>
            <a:r>
              <a:rPr lang="es-MX" sz="1400" b="1" dirty="0"/>
              <a:t>:</a:t>
            </a:r>
          </a:p>
          <a:p>
            <a:pPr marL="109728" indent="0">
              <a:buNone/>
            </a:pPr>
            <a:r>
              <a:rPr lang="es-MX" sz="1400" b="1" dirty="0"/>
              <a:t># Inicializar </a:t>
            </a:r>
            <a:r>
              <a:rPr lang="es-MX" sz="1400" b="1" dirty="0" err="1"/>
              <a:t>git</a:t>
            </a:r>
            <a:r>
              <a:rPr lang="es-MX" sz="1400" b="1" dirty="0"/>
              <a:t> en el proyecto</a:t>
            </a:r>
          </a:p>
          <a:p>
            <a:r>
              <a:rPr lang="es-MX" sz="1400" b="1" dirty="0" err="1"/>
              <a:t>git</a:t>
            </a:r>
            <a:r>
              <a:rPr lang="es-MX" sz="1400" b="1" dirty="0"/>
              <a:t> </a:t>
            </a:r>
            <a:r>
              <a:rPr lang="es-MX" sz="1400" b="1" dirty="0" err="1"/>
              <a:t>init</a:t>
            </a:r>
            <a:endParaRPr lang="es-MX" sz="1400" b="1" dirty="0"/>
          </a:p>
          <a:p>
            <a:endParaRPr lang="es-MX" sz="1400" b="1" dirty="0"/>
          </a:p>
          <a:p>
            <a:pPr marL="109728" indent="0">
              <a:buNone/>
            </a:pPr>
            <a:r>
              <a:rPr lang="es-MX" sz="1400" b="1" dirty="0"/>
              <a:t># Agregar todos los archivos</a:t>
            </a:r>
          </a:p>
          <a:p>
            <a:r>
              <a:rPr lang="es-MX" sz="1400" b="1" dirty="0" err="1"/>
              <a:t>git</a:t>
            </a:r>
            <a:r>
              <a:rPr lang="es-MX" sz="1400" b="1" dirty="0"/>
              <a:t> </a:t>
            </a:r>
            <a:r>
              <a:rPr lang="es-MX" sz="1400" b="1" dirty="0" err="1"/>
              <a:t>add</a:t>
            </a:r>
            <a:r>
              <a:rPr lang="es-MX" sz="1400" b="1" dirty="0"/>
              <a:t> .</a:t>
            </a:r>
          </a:p>
          <a:p>
            <a:endParaRPr lang="es-MX" sz="1400" b="1" dirty="0"/>
          </a:p>
          <a:p>
            <a:pPr marL="109728" indent="0">
              <a:buNone/>
            </a:pPr>
            <a:r>
              <a:rPr lang="es-MX" sz="1400" b="1" dirty="0"/>
              <a:t># Hacer el primer </a:t>
            </a:r>
            <a:r>
              <a:rPr lang="es-MX" sz="1400" b="1" dirty="0" err="1"/>
              <a:t>commit</a:t>
            </a:r>
            <a:endParaRPr lang="es-MX" sz="1400" b="1" dirty="0"/>
          </a:p>
          <a:p>
            <a:r>
              <a:rPr lang="es-MX" sz="1400" b="1" dirty="0" err="1"/>
              <a:t>git</a:t>
            </a:r>
            <a:r>
              <a:rPr lang="es-MX" sz="1400" b="1" dirty="0"/>
              <a:t> </a:t>
            </a:r>
            <a:r>
              <a:rPr lang="es-MX" sz="1400" b="1" dirty="0" err="1"/>
              <a:t>commit</a:t>
            </a:r>
            <a:r>
              <a:rPr lang="es-MX" sz="1400" b="1" dirty="0"/>
              <a:t> -m "Primer </a:t>
            </a:r>
            <a:r>
              <a:rPr lang="es-MX" sz="1400" b="1" dirty="0" err="1"/>
              <a:t>commit</a:t>
            </a:r>
            <a:r>
              <a:rPr lang="es-MX" sz="1400" b="1" dirty="0"/>
              <a:t>"</a:t>
            </a:r>
          </a:p>
          <a:p>
            <a:endParaRPr lang="es-MX" sz="1400" b="1" dirty="0"/>
          </a:p>
          <a:p>
            <a:pPr marL="109728" indent="0">
              <a:buNone/>
            </a:pPr>
            <a:r>
              <a:rPr lang="es-MX" sz="1400" b="1" dirty="0"/>
              <a:t># Cambiar nombre de rama a </a:t>
            </a:r>
            <a:r>
              <a:rPr lang="es-MX" sz="1400" b="1" dirty="0" err="1"/>
              <a:t>main</a:t>
            </a:r>
            <a:endParaRPr lang="es-MX" sz="1400" b="1" dirty="0"/>
          </a:p>
          <a:p>
            <a:r>
              <a:rPr lang="es-MX" sz="1400" b="1" dirty="0" err="1"/>
              <a:t>git</a:t>
            </a:r>
            <a:r>
              <a:rPr lang="es-MX" sz="1400" b="1" dirty="0"/>
              <a:t> </a:t>
            </a:r>
            <a:r>
              <a:rPr lang="es-MX" sz="1400" b="1" dirty="0" err="1"/>
              <a:t>branch</a:t>
            </a:r>
            <a:r>
              <a:rPr lang="es-MX" sz="1400" b="1" dirty="0"/>
              <a:t> -M </a:t>
            </a:r>
            <a:r>
              <a:rPr lang="es-MX" sz="1400" b="1" dirty="0" err="1"/>
              <a:t>main</a:t>
            </a:r>
            <a:endParaRPr lang="es-MX" sz="1400" b="1" dirty="0"/>
          </a:p>
          <a:p>
            <a:endParaRPr lang="es-MX" sz="1400" b="1" dirty="0"/>
          </a:p>
          <a:p>
            <a:pPr marL="109728" indent="0">
              <a:buNone/>
            </a:pPr>
            <a:r>
              <a:rPr lang="es-MX" sz="1400" b="1" dirty="0"/>
              <a:t># Conectar con tu repositorio de GitHub (cambia la URL por la tuya)</a:t>
            </a:r>
          </a:p>
          <a:p>
            <a:r>
              <a:rPr lang="es-MX" sz="1400" b="1" dirty="0" err="1"/>
              <a:t>git</a:t>
            </a:r>
            <a:r>
              <a:rPr lang="es-MX" sz="1400" b="1" dirty="0"/>
              <a:t> remote </a:t>
            </a:r>
            <a:r>
              <a:rPr lang="es-MX" sz="1400" b="1" dirty="0" err="1"/>
              <a:t>add</a:t>
            </a:r>
            <a:r>
              <a:rPr lang="es-MX" sz="1400" b="1" dirty="0"/>
              <a:t> </a:t>
            </a:r>
            <a:r>
              <a:rPr lang="es-MX" sz="1400" b="1" dirty="0" err="1"/>
              <a:t>origin</a:t>
            </a:r>
            <a:r>
              <a:rPr lang="es-MX" sz="1400" b="1" dirty="0"/>
              <a:t> https://github.com/USUARIO/NOMBRE-REPO.git</a:t>
            </a:r>
          </a:p>
          <a:p>
            <a:endParaRPr lang="es-MX" sz="1400" b="1" dirty="0"/>
          </a:p>
          <a:p>
            <a:pPr marL="109728" indent="0">
              <a:buNone/>
            </a:pPr>
            <a:r>
              <a:rPr lang="es-MX" sz="1400" b="1" dirty="0"/>
              <a:t># Subir el proyecto a GitHub</a:t>
            </a:r>
          </a:p>
          <a:p>
            <a:r>
              <a:rPr lang="es-MX" sz="1400" b="1" dirty="0" err="1"/>
              <a:t>git</a:t>
            </a:r>
            <a:r>
              <a:rPr lang="es-MX" sz="1400" b="1" dirty="0"/>
              <a:t> </a:t>
            </a:r>
            <a:r>
              <a:rPr lang="es-MX" sz="1400" b="1" dirty="0" err="1"/>
              <a:t>push</a:t>
            </a:r>
            <a:r>
              <a:rPr lang="es-MX" sz="1400" b="1" dirty="0"/>
              <a:t> -u </a:t>
            </a:r>
            <a:r>
              <a:rPr lang="es-MX" sz="1400" b="1" dirty="0" err="1"/>
              <a:t>origin</a:t>
            </a:r>
            <a:r>
              <a:rPr lang="es-MX" sz="1400" b="1" dirty="0"/>
              <a:t> </a:t>
            </a:r>
            <a:r>
              <a:rPr lang="es-MX" sz="1400" b="1" dirty="0" err="1"/>
              <a:t>main</a:t>
            </a:r>
            <a:endParaRPr lang="es-MX" sz="1400" b="1" dirty="0"/>
          </a:p>
        </p:txBody>
      </p:sp>
    </p:spTree>
    <p:extLst>
      <p:ext uri="{BB962C8B-B14F-4D97-AF65-F5344CB8AC3E}">
        <p14:creationId xmlns:p14="http://schemas.microsoft.com/office/powerpoint/2010/main" val="364111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FF2D-A96C-6C95-5145-F647D5CE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 and Content Layout with Chart">
            <a:extLst>
              <a:ext uri="{FF2B5EF4-FFF2-40B4-BE49-F238E27FC236}">
                <a16:creationId xmlns:a16="http://schemas.microsoft.com/office/drawing/2014/main" id="{AD65B836-EEAD-5FBE-F4AF-C01F0F43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165"/>
            <a:ext cx="10972800" cy="4572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Posibles</a:t>
            </a:r>
            <a:r>
              <a:rPr lang="en-US" b="1" dirty="0"/>
              <a:t> </a:t>
            </a:r>
            <a:r>
              <a:rPr lang="en-US" b="1" dirty="0" err="1"/>
              <a:t>escenarios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0F5E1-A104-FD46-2048-D7F4B816C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943897"/>
            <a:ext cx="11975690" cy="530891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s-ES" dirty="0"/>
              <a:t>Si ya corriste antes un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init</a:t>
            </a:r>
            <a:r>
              <a:rPr lang="es-ES" dirty="0"/>
              <a:t> o ya tenías conectado un remoto, puede marcar error en </a:t>
            </a:r>
            <a:r>
              <a:rPr lang="es-ES" dirty="0" err="1"/>
              <a:t>git</a:t>
            </a:r>
            <a:r>
              <a:rPr lang="es-ES" dirty="0"/>
              <a:t> remote </a:t>
            </a:r>
            <a:r>
              <a:rPr lang="es-ES" dirty="0" err="1"/>
              <a:t>add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....</a:t>
            </a:r>
          </a:p>
          <a:p>
            <a:endParaRPr lang="es-ES" dirty="0"/>
          </a:p>
          <a:p>
            <a:pPr marL="109728" indent="0">
              <a:buNone/>
            </a:pPr>
            <a:r>
              <a:rPr lang="es-ES" dirty="0"/>
              <a:t>En ese caso, usas este comando en su lugar:</a:t>
            </a:r>
          </a:p>
          <a:p>
            <a:pPr marL="109728" indent="0">
              <a:buNone/>
            </a:pPr>
            <a:r>
              <a:rPr lang="es-ES" dirty="0" err="1"/>
              <a:t>git</a:t>
            </a:r>
            <a:r>
              <a:rPr lang="es-ES" dirty="0"/>
              <a:t> remote set-</a:t>
            </a:r>
            <a:r>
              <a:rPr lang="es-ES" dirty="0" err="1"/>
              <a:t>url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</a:t>
            </a:r>
            <a:r>
              <a:rPr lang="es-ES" b="1" dirty="0">
                <a:hlinkClick r:id="rId3"/>
              </a:rPr>
              <a:t>https://github.com/USER/NOM-REPO.git</a:t>
            </a:r>
            <a:endParaRPr lang="es-ES" b="1" dirty="0"/>
          </a:p>
          <a:p>
            <a:pPr marL="109728" indent="0">
              <a:buNone/>
            </a:pPr>
            <a:endParaRPr lang="es-ES" dirty="0"/>
          </a:p>
          <a:p>
            <a:pPr marL="109728" indent="0">
              <a:buNone/>
            </a:pPr>
            <a:r>
              <a:rPr lang="es-ES" dirty="0"/>
              <a:t>GitHub ya no permite contraseñas para autenticación desde la consola; solo acepta:</a:t>
            </a:r>
          </a:p>
          <a:p>
            <a:r>
              <a:rPr lang="es-ES" dirty="0"/>
              <a:t>SSH </a:t>
            </a:r>
            <a:r>
              <a:rPr lang="es-ES" dirty="0" err="1"/>
              <a:t>keys</a:t>
            </a:r>
            <a:r>
              <a:rPr lang="es-ES" dirty="0"/>
              <a:t> 🔑</a:t>
            </a:r>
          </a:p>
          <a:p>
            <a:r>
              <a:rPr lang="es-ES" dirty="0"/>
              <a:t>Token personal de acceso (PAT) 🔐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63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FF0A3-AEC7-8B89-F8D6-1A3B7F4A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 and Content Layout with Chart">
            <a:extLst>
              <a:ext uri="{FF2B5EF4-FFF2-40B4-BE49-F238E27FC236}">
                <a16:creationId xmlns:a16="http://schemas.microsoft.com/office/drawing/2014/main" id="{99EC81C8-5DCA-4DE9-5C0B-69044A0B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165"/>
            <a:ext cx="10972800" cy="4572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Posibles</a:t>
            </a:r>
            <a:r>
              <a:rPr lang="en-US" b="1" dirty="0"/>
              <a:t> </a:t>
            </a:r>
            <a:r>
              <a:rPr lang="en-US" b="1" dirty="0" err="1"/>
              <a:t>escenarios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176913-D783-ED1A-0FD0-CF1E18BC16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281" y="612844"/>
            <a:ext cx="1200543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Conectar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Token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sencillo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Settings → Developer settings → Personal access tokens → Tokens (classic)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 un nuevo token con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permisos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mínimos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repo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✔️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 (se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muestra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cuando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hagas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push –u origin main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usuario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contraseña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nombre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GitHub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Contraseña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pega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guardar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 con un helper para no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escribirlo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siempre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git config --global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credential.helper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store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33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609601" y="1888073"/>
            <a:ext cx="9992138" cy="3998975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Instalar</a:t>
            </a:r>
            <a:r>
              <a:rPr lang="en-US" sz="3600" b="1" dirty="0"/>
              <a:t> Git</a:t>
            </a:r>
          </a:p>
          <a:p>
            <a:r>
              <a:rPr lang="en-US" sz="3600" b="1" dirty="0"/>
              <a:t>Se </a:t>
            </a:r>
            <a:r>
              <a:rPr lang="en-US" sz="3600" b="1" dirty="0" err="1"/>
              <a:t>puede</a:t>
            </a:r>
            <a:r>
              <a:rPr lang="en-US" sz="3600" b="1" dirty="0"/>
              <a:t> usar GitHub Desktop para </a:t>
            </a:r>
            <a:r>
              <a:rPr lang="en-US" sz="3600" b="1" dirty="0" err="1"/>
              <a:t>evitar</a:t>
            </a:r>
            <a:r>
              <a:rPr lang="en-US" sz="3600" b="1" dirty="0"/>
              <a:t> </a:t>
            </a:r>
            <a:r>
              <a:rPr lang="en-US" sz="3600" b="1" dirty="0" err="1"/>
              <a:t>siempre</a:t>
            </a:r>
            <a:r>
              <a:rPr lang="en-US" sz="3600" b="1" dirty="0"/>
              <a:t> usar commandos, mas </a:t>
            </a:r>
            <a:r>
              <a:rPr lang="en-US" sz="3600" b="1" dirty="0" err="1"/>
              <a:t>gráfico</a:t>
            </a:r>
            <a:r>
              <a:rPr lang="en-US" sz="3600" b="1" dirty="0"/>
              <a:t> y </a:t>
            </a:r>
            <a:r>
              <a:rPr lang="en-US" sz="3600" b="1" dirty="0" err="1"/>
              <a:t>fácil</a:t>
            </a:r>
            <a:r>
              <a:rPr lang="en-US" sz="3600" b="1" dirty="0"/>
              <a:t> </a:t>
            </a:r>
            <a:r>
              <a:rPr lang="en-US" sz="3600" b="1" dirty="0" err="1"/>
              <a:t>manejo</a:t>
            </a:r>
            <a:r>
              <a:rPr lang="en-US" sz="3600" b="1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Herramientas</a:t>
            </a:r>
            <a:r>
              <a:rPr lang="en-US" dirty="0"/>
              <a:t> para el developer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6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B05EA-AED9-74E9-1750-24EB47DB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321A6E8-5B41-47EE-3318-68713403A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9033" y="853751"/>
            <a:ext cx="11653934" cy="5416420"/>
          </a:xfr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marL="109728" indent="0">
              <a:buNone/>
            </a:pPr>
            <a:r>
              <a:rPr lang="en-US" sz="3600" b="1" dirty="0"/>
              <a:t>git </a:t>
            </a:r>
            <a:r>
              <a:rPr lang="en-US" sz="3600" b="1" dirty="0" err="1"/>
              <a:t>init</a:t>
            </a:r>
            <a:r>
              <a:rPr lang="en-US" sz="3600" b="1" dirty="0"/>
              <a:t> = </a:t>
            </a:r>
            <a:r>
              <a:rPr lang="en-US" sz="3600" b="1" dirty="0" err="1"/>
              <a:t>inicia</a:t>
            </a:r>
            <a:r>
              <a:rPr lang="en-US" sz="3600" b="1" dirty="0"/>
              <a:t> un </a:t>
            </a:r>
            <a:r>
              <a:rPr lang="en-US" sz="3600" b="1" dirty="0" err="1"/>
              <a:t>repositorio</a:t>
            </a:r>
            <a:r>
              <a:rPr lang="en-US" sz="3600" b="1" dirty="0"/>
              <a:t> </a:t>
            </a:r>
            <a:r>
              <a:rPr lang="en-US" sz="3600" b="1" dirty="0" err="1"/>
              <a:t>en</a:t>
            </a:r>
            <a:r>
              <a:rPr lang="en-US" sz="3600" b="1" dirty="0"/>
              <a:t> la </a:t>
            </a:r>
            <a:r>
              <a:rPr lang="en-US" sz="3600" b="1" dirty="0" err="1"/>
              <a:t>carpeta</a:t>
            </a:r>
            <a:r>
              <a:rPr lang="en-US" sz="3600" b="1" dirty="0"/>
              <a:t> actual</a:t>
            </a:r>
          </a:p>
          <a:p>
            <a:pPr marL="109728" indent="0">
              <a:buNone/>
            </a:pPr>
            <a:r>
              <a:rPr lang="en-US" sz="3600" b="1" dirty="0"/>
              <a:t>git clone URL = </a:t>
            </a:r>
            <a:r>
              <a:rPr lang="en-US" sz="3600" b="1" dirty="0" err="1"/>
              <a:t>clona</a:t>
            </a:r>
            <a:r>
              <a:rPr lang="en-US" sz="3600" b="1" dirty="0"/>
              <a:t> un </a:t>
            </a:r>
            <a:r>
              <a:rPr lang="en-US" sz="3600" b="1" dirty="0" err="1"/>
              <a:t>repositorio</a:t>
            </a:r>
            <a:r>
              <a:rPr lang="en-US" sz="3600" b="1" dirty="0"/>
              <a:t> </a:t>
            </a:r>
            <a:r>
              <a:rPr lang="en-US" sz="3600" b="1" dirty="0" err="1"/>
              <a:t>remoto</a:t>
            </a:r>
            <a:r>
              <a:rPr lang="en-US" sz="3600" b="1" dirty="0"/>
              <a:t> </a:t>
            </a:r>
            <a:r>
              <a:rPr lang="en-US" sz="3600" b="1" dirty="0" err="1"/>
              <a:t>en</a:t>
            </a:r>
            <a:r>
              <a:rPr lang="en-US" sz="3600" b="1" dirty="0"/>
              <a:t> </a:t>
            </a:r>
            <a:r>
              <a:rPr lang="en-US" sz="3600" b="1" dirty="0" err="1"/>
              <a:t>tu</a:t>
            </a:r>
            <a:r>
              <a:rPr lang="en-US" sz="3600" b="1" dirty="0"/>
              <a:t> </a:t>
            </a:r>
            <a:r>
              <a:rPr lang="en-US" sz="3600" b="1" dirty="0" err="1"/>
              <a:t>computadora</a:t>
            </a:r>
            <a:endParaRPr lang="en-US" sz="3600" b="1" dirty="0"/>
          </a:p>
          <a:p>
            <a:pPr marL="109728" indent="0">
              <a:buNone/>
            </a:pPr>
            <a:r>
              <a:rPr lang="en-US" sz="3600" b="1" dirty="0"/>
              <a:t>git status = </a:t>
            </a:r>
            <a:r>
              <a:rPr lang="en-US" sz="3600" b="1" dirty="0" err="1"/>
              <a:t>muestra</a:t>
            </a:r>
            <a:r>
              <a:rPr lang="en-US" sz="3600" b="1" dirty="0"/>
              <a:t> </a:t>
            </a:r>
            <a:r>
              <a:rPr lang="en-US" sz="3600" b="1" dirty="0" err="1"/>
              <a:t>el</a:t>
            </a:r>
            <a:r>
              <a:rPr lang="en-US" sz="3600" b="1" dirty="0"/>
              <a:t> </a:t>
            </a:r>
            <a:r>
              <a:rPr lang="en-US" sz="3600" b="1" dirty="0" err="1"/>
              <a:t>estado</a:t>
            </a:r>
            <a:r>
              <a:rPr lang="en-US" sz="3600" b="1" dirty="0"/>
              <a:t> de </a:t>
            </a:r>
            <a:r>
              <a:rPr lang="en-US" sz="3600" b="1" dirty="0" err="1"/>
              <a:t>tus</a:t>
            </a:r>
            <a:r>
              <a:rPr lang="en-US" sz="3600" b="1" dirty="0"/>
              <a:t> </a:t>
            </a:r>
            <a:r>
              <a:rPr lang="en-US" sz="3600" b="1" dirty="0" err="1"/>
              <a:t>archivos</a:t>
            </a:r>
            <a:endParaRPr lang="en-US" sz="3600" b="1" dirty="0"/>
          </a:p>
          <a:p>
            <a:pPr marL="109728" indent="0">
              <a:buNone/>
            </a:pPr>
            <a:r>
              <a:rPr lang="en-US" sz="3600" b="1" dirty="0"/>
              <a:t>git add . = </a:t>
            </a:r>
            <a:r>
              <a:rPr lang="en-US" sz="3600" b="1" dirty="0" err="1"/>
              <a:t>prepara</a:t>
            </a:r>
            <a:r>
              <a:rPr lang="en-US" sz="3600" b="1" dirty="0"/>
              <a:t> </a:t>
            </a:r>
            <a:r>
              <a:rPr lang="en-US" sz="3600" b="1" dirty="0" err="1"/>
              <a:t>todos</a:t>
            </a:r>
            <a:r>
              <a:rPr lang="en-US" sz="3600" b="1" dirty="0"/>
              <a:t> </a:t>
            </a:r>
            <a:r>
              <a:rPr lang="en-US" sz="3600" b="1" dirty="0" err="1"/>
              <a:t>los</a:t>
            </a:r>
            <a:r>
              <a:rPr lang="en-US" sz="3600" b="1" dirty="0"/>
              <a:t> </a:t>
            </a:r>
            <a:r>
              <a:rPr lang="en-US" sz="3600" b="1" dirty="0" err="1"/>
              <a:t>archivos</a:t>
            </a:r>
            <a:r>
              <a:rPr lang="en-US" sz="3600" b="1" dirty="0"/>
              <a:t> para </a:t>
            </a:r>
            <a:r>
              <a:rPr lang="en-US" sz="3600" b="1" dirty="0" err="1"/>
              <a:t>guardar</a:t>
            </a:r>
            <a:r>
              <a:rPr lang="en-US" sz="3600" b="1" dirty="0"/>
              <a:t> (staging)</a:t>
            </a:r>
          </a:p>
          <a:p>
            <a:pPr marL="109728" indent="0">
              <a:buNone/>
            </a:pPr>
            <a:r>
              <a:rPr lang="en-US" sz="3600" b="1" dirty="0"/>
              <a:t>git commit -m "</a:t>
            </a:r>
            <a:r>
              <a:rPr lang="en-US" sz="3600" b="1" dirty="0" err="1"/>
              <a:t>mensaje</a:t>
            </a:r>
            <a:r>
              <a:rPr lang="en-US" sz="3600" b="1" dirty="0"/>
              <a:t>" = </a:t>
            </a:r>
            <a:r>
              <a:rPr lang="en-US" sz="3600" b="1" dirty="0" err="1"/>
              <a:t>guarda</a:t>
            </a:r>
            <a:r>
              <a:rPr lang="en-US" sz="3600" b="1" dirty="0"/>
              <a:t> </a:t>
            </a:r>
            <a:r>
              <a:rPr lang="en-US" sz="3600" b="1" dirty="0" err="1"/>
              <a:t>cambios</a:t>
            </a:r>
            <a:r>
              <a:rPr lang="en-US" sz="3600" b="1" dirty="0"/>
              <a:t> </a:t>
            </a:r>
            <a:r>
              <a:rPr lang="en-US" sz="3600" b="1" dirty="0" err="1"/>
              <a:t>en</a:t>
            </a:r>
            <a:r>
              <a:rPr lang="en-US" sz="3600" b="1" dirty="0"/>
              <a:t> local</a:t>
            </a:r>
          </a:p>
          <a:p>
            <a:pPr marL="109728" indent="0">
              <a:buNone/>
            </a:pPr>
            <a:r>
              <a:rPr lang="en-US" sz="3600" b="1" dirty="0"/>
              <a:t>git push = </a:t>
            </a:r>
            <a:r>
              <a:rPr lang="en-US" sz="3600" b="1" dirty="0" err="1"/>
              <a:t>sube</a:t>
            </a:r>
            <a:r>
              <a:rPr lang="en-US" sz="3600" b="1" dirty="0"/>
              <a:t> </a:t>
            </a:r>
            <a:r>
              <a:rPr lang="en-US" sz="3600" b="1" dirty="0" err="1"/>
              <a:t>cambios</a:t>
            </a:r>
            <a:r>
              <a:rPr lang="en-US" sz="3600" b="1" dirty="0"/>
              <a:t> al </a:t>
            </a:r>
            <a:r>
              <a:rPr lang="en-US" sz="3600" b="1" dirty="0" err="1"/>
              <a:t>remoto</a:t>
            </a:r>
            <a:r>
              <a:rPr lang="en-US" sz="3600" b="1" dirty="0"/>
              <a:t> (GitHub)</a:t>
            </a:r>
          </a:p>
          <a:p>
            <a:pPr marL="109728" indent="0">
              <a:buNone/>
            </a:pPr>
            <a:r>
              <a:rPr lang="en-US" sz="3600" b="1" dirty="0"/>
              <a:t>git pull = </a:t>
            </a:r>
            <a:r>
              <a:rPr lang="en-US" sz="3600" b="1" dirty="0" err="1"/>
              <a:t>trae</a:t>
            </a:r>
            <a:r>
              <a:rPr lang="en-US" sz="3600" b="1" dirty="0"/>
              <a:t> </a:t>
            </a:r>
            <a:r>
              <a:rPr lang="en-US" sz="3600" b="1" dirty="0" err="1"/>
              <a:t>cambios</a:t>
            </a:r>
            <a:r>
              <a:rPr lang="en-US" sz="3600" b="1" dirty="0"/>
              <a:t> del </a:t>
            </a:r>
            <a:r>
              <a:rPr lang="en-US" sz="3600" b="1" dirty="0" err="1"/>
              <a:t>remoto</a:t>
            </a:r>
            <a:r>
              <a:rPr lang="en-US" sz="3600" b="1" dirty="0"/>
              <a:t> a </a:t>
            </a:r>
            <a:r>
              <a:rPr lang="en-US" sz="3600" b="1" dirty="0" err="1"/>
              <a:t>tu</a:t>
            </a:r>
            <a:r>
              <a:rPr lang="en-US" sz="3600" b="1" dirty="0"/>
              <a:t> local</a:t>
            </a:r>
          </a:p>
          <a:p>
            <a:pPr marL="109728" indent="0">
              <a:buNone/>
            </a:pPr>
            <a:r>
              <a:rPr lang="en-US" sz="3600" b="1" dirty="0"/>
              <a:t>git branch = </a:t>
            </a:r>
            <a:r>
              <a:rPr lang="en-US" sz="3600" b="1" dirty="0" err="1"/>
              <a:t>lista</a:t>
            </a:r>
            <a:r>
              <a:rPr lang="en-US" sz="3600" b="1" dirty="0"/>
              <a:t> </a:t>
            </a:r>
            <a:r>
              <a:rPr lang="en-US" sz="3600" b="1" dirty="0" err="1"/>
              <a:t>ramas</a:t>
            </a:r>
            <a:endParaRPr lang="en-US" sz="3600" b="1" dirty="0"/>
          </a:p>
          <a:p>
            <a:pPr marL="109728" indent="0">
              <a:buNone/>
            </a:pPr>
            <a:r>
              <a:rPr lang="en-US" sz="3600" b="1" dirty="0"/>
              <a:t>git branch </a:t>
            </a:r>
            <a:r>
              <a:rPr lang="en-US" sz="3600" b="1" dirty="0" err="1"/>
              <a:t>nueva_rama</a:t>
            </a:r>
            <a:r>
              <a:rPr lang="en-US" sz="3600" b="1" dirty="0"/>
              <a:t> = </a:t>
            </a:r>
            <a:r>
              <a:rPr lang="en-US" sz="3600" b="1" dirty="0" err="1"/>
              <a:t>crea</a:t>
            </a:r>
            <a:r>
              <a:rPr lang="en-US" sz="3600" b="1" dirty="0"/>
              <a:t> </a:t>
            </a:r>
            <a:r>
              <a:rPr lang="en-US" sz="3600" b="1" dirty="0" err="1"/>
              <a:t>una</a:t>
            </a:r>
            <a:r>
              <a:rPr lang="en-US" sz="3600" b="1" dirty="0"/>
              <a:t> </a:t>
            </a:r>
            <a:r>
              <a:rPr lang="en-US" sz="3600" b="1" dirty="0" err="1"/>
              <a:t>nueva</a:t>
            </a:r>
            <a:r>
              <a:rPr lang="en-US" sz="3600" b="1" dirty="0"/>
              <a:t> </a:t>
            </a:r>
            <a:r>
              <a:rPr lang="en-US" sz="3600" b="1" dirty="0" err="1"/>
              <a:t>rama</a:t>
            </a:r>
            <a:endParaRPr lang="en-US" sz="3600" b="1" dirty="0"/>
          </a:p>
          <a:p>
            <a:pPr marL="109728" indent="0">
              <a:buNone/>
            </a:pPr>
            <a:r>
              <a:rPr lang="en-US" sz="3600" b="1" dirty="0"/>
              <a:t>git checkout </a:t>
            </a:r>
            <a:r>
              <a:rPr lang="en-US" sz="3600" b="1" dirty="0" err="1"/>
              <a:t>nombre_rama</a:t>
            </a:r>
            <a:r>
              <a:rPr lang="en-US" sz="3600" b="1" dirty="0"/>
              <a:t> = cambia a </a:t>
            </a:r>
            <a:r>
              <a:rPr lang="en-US" sz="3600" b="1" dirty="0" err="1"/>
              <a:t>esa</a:t>
            </a:r>
            <a:r>
              <a:rPr lang="en-US" sz="3600" b="1" dirty="0"/>
              <a:t> </a:t>
            </a:r>
            <a:r>
              <a:rPr lang="en-US" sz="3600" b="1" dirty="0" err="1"/>
              <a:t>rama</a:t>
            </a:r>
            <a:endParaRPr lang="en-US" sz="3600" b="1" dirty="0"/>
          </a:p>
          <a:p>
            <a:pPr marL="109728" indent="0">
              <a:buNone/>
            </a:pPr>
            <a:r>
              <a:rPr lang="en-US" sz="3600" b="1" dirty="0"/>
              <a:t>git checkout -b </a:t>
            </a:r>
            <a:r>
              <a:rPr lang="en-US" sz="3600" b="1" dirty="0" err="1"/>
              <a:t>nueva_rama</a:t>
            </a:r>
            <a:r>
              <a:rPr lang="en-US" sz="3600" b="1" dirty="0"/>
              <a:t> = </a:t>
            </a:r>
            <a:r>
              <a:rPr lang="en-US" sz="3600" b="1" dirty="0" err="1"/>
              <a:t>crea</a:t>
            </a:r>
            <a:r>
              <a:rPr lang="en-US" sz="3600" b="1" dirty="0"/>
              <a:t> y cambia a la </a:t>
            </a:r>
            <a:r>
              <a:rPr lang="en-US" sz="3600" b="1" dirty="0" err="1"/>
              <a:t>nueva</a:t>
            </a:r>
            <a:r>
              <a:rPr lang="en-US" sz="3600" b="1" dirty="0"/>
              <a:t> </a:t>
            </a:r>
            <a:r>
              <a:rPr lang="en-US" sz="3600" b="1" dirty="0" err="1"/>
              <a:t>rama</a:t>
            </a:r>
            <a:endParaRPr lang="en-US" sz="3600" b="1" dirty="0"/>
          </a:p>
          <a:p>
            <a:pPr marL="109728" indent="0">
              <a:buNone/>
            </a:pPr>
            <a:r>
              <a:rPr lang="en-US" sz="3600" b="1" dirty="0"/>
              <a:t>git merge </a:t>
            </a:r>
            <a:r>
              <a:rPr lang="en-US" sz="3600" b="1" dirty="0" err="1"/>
              <a:t>nombre_rama</a:t>
            </a:r>
            <a:r>
              <a:rPr lang="en-US" sz="3600" b="1" dirty="0"/>
              <a:t> = </a:t>
            </a:r>
            <a:r>
              <a:rPr lang="en-US" sz="3600" b="1" dirty="0" err="1"/>
              <a:t>fusiona</a:t>
            </a:r>
            <a:r>
              <a:rPr lang="en-US" sz="3600" b="1" dirty="0"/>
              <a:t> </a:t>
            </a:r>
            <a:r>
              <a:rPr lang="en-US" sz="3600" b="1" dirty="0" err="1"/>
              <a:t>una</a:t>
            </a:r>
            <a:r>
              <a:rPr lang="en-US" sz="3600" b="1" dirty="0"/>
              <a:t> </a:t>
            </a:r>
            <a:r>
              <a:rPr lang="en-US" sz="3600" b="1" dirty="0" err="1"/>
              <a:t>rama</a:t>
            </a:r>
            <a:r>
              <a:rPr lang="en-US" sz="3600" b="1" dirty="0"/>
              <a:t> con la actual</a:t>
            </a:r>
          </a:p>
          <a:p>
            <a:pPr marL="109728" indent="0">
              <a:buNone/>
            </a:pPr>
            <a:r>
              <a:rPr lang="en-US" sz="3600" b="1" dirty="0"/>
              <a:t>git log = </a:t>
            </a:r>
            <a:r>
              <a:rPr lang="en-US" sz="3600" b="1" dirty="0" err="1"/>
              <a:t>muestra</a:t>
            </a:r>
            <a:r>
              <a:rPr lang="en-US" sz="3600" b="1" dirty="0"/>
              <a:t> </a:t>
            </a:r>
            <a:r>
              <a:rPr lang="en-US" sz="3600" b="1" dirty="0" err="1"/>
              <a:t>historial</a:t>
            </a:r>
            <a:r>
              <a:rPr lang="en-US" sz="3600" b="1" dirty="0"/>
              <a:t> de commits</a:t>
            </a:r>
          </a:p>
          <a:p>
            <a:pPr marL="109728" indent="0">
              <a:buNone/>
            </a:pPr>
            <a:r>
              <a:rPr lang="en-US" sz="3600" b="1" dirty="0"/>
              <a:t>git remote -v = </a:t>
            </a:r>
            <a:r>
              <a:rPr lang="en-US" sz="3600" b="1" dirty="0" err="1"/>
              <a:t>muestra</a:t>
            </a:r>
            <a:r>
              <a:rPr lang="en-US" sz="3600" b="1" dirty="0"/>
              <a:t> </a:t>
            </a:r>
            <a:r>
              <a:rPr lang="en-US" sz="3600" b="1" dirty="0" err="1"/>
              <a:t>el</a:t>
            </a:r>
            <a:r>
              <a:rPr lang="en-US" sz="3600" b="1" dirty="0"/>
              <a:t> </a:t>
            </a:r>
            <a:r>
              <a:rPr lang="en-US" sz="3600" b="1" dirty="0" err="1"/>
              <a:t>repositorio</a:t>
            </a:r>
            <a:r>
              <a:rPr lang="en-US" sz="3600" b="1" dirty="0"/>
              <a:t> </a:t>
            </a:r>
            <a:r>
              <a:rPr lang="en-US" sz="3600" b="1" dirty="0" err="1"/>
              <a:t>remoto</a:t>
            </a:r>
            <a:r>
              <a:rPr lang="en-US" sz="3600" b="1" dirty="0"/>
              <a:t> </a:t>
            </a:r>
            <a:r>
              <a:rPr lang="en-US" sz="3600" b="1" dirty="0" err="1"/>
              <a:t>conectado</a:t>
            </a:r>
            <a:endParaRPr lang="en-US" sz="3600" b="1" dirty="0"/>
          </a:p>
          <a:p>
            <a:pPr marL="109728" indent="0">
              <a:buNone/>
            </a:pPr>
            <a:r>
              <a:rPr lang="en-US" sz="3600" b="1" dirty="0"/>
              <a:t>git remote add origin URL = </a:t>
            </a:r>
            <a:r>
              <a:rPr lang="en-US" sz="3600" b="1" dirty="0" err="1"/>
              <a:t>conecta</a:t>
            </a:r>
            <a:r>
              <a:rPr lang="en-US" sz="3600" b="1" dirty="0"/>
              <a:t> </a:t>
            </a:r>
            <a:r>
              <a:rPr lang="en-US" sz="3600" b="1" dirty="0" err="1"/>
              <a:t>tu</a:t>
            </a:r>
            <a:r>
              <a:rPr lang="en-US" sz="3600" b="1" dirty="0"/>
              <a:t> repo local con GitHub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7967D-A6CC-5DB3-931A-9A2AB43E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11268"/>
            <a:ext cx="10972800" cy="1066800"/>
          </a:xfrm>
        </p:spPr>
        <p:txBody>
          <a:bodyPr/>
          <a:lstStyle/>
          <a:p>
            <a:r>
              <a:rPr lang="en-US" b="1" dirty="0" err="1"/>
              <a:t>Comandos</a:t>
            </a:r>
            <a:r>
              <a:rPr lang="en-US" b="1" dirty="0"/>
              <a:t> </a:t>
            </a:r>
            <a:r>
              <a:rPr lang="en-US" b="1" dirty="0" err="1"/>
              <a:t>más</a:t>
            </a:r>
            <a:r>
              <a:rPr lang="en-US" b="1" dirty="0"/>
              <a:t> </a:t>
            </a:r>
            <a:r>
              <a:rPr lang="en-US" b="1" dirty="0" err="1"/>
              <a:t>comunes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5742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52155"/>
            <a:ext cx="10972800" cy="1066800"/>
          </a:xfrm>
        </p:spPr>
        <p:txBody>
          <a:bodyPr/>
          <a:lstStyle/>
          <a:p>
            <a:r>
              <a:rPr lang="en-US" dirty="0"/>
              <a:t>Idea conceptual 1</a:t>
            </a:r>
          </a:p>
        </p:txBody>
      </p:sp>
      <p:pic>
        <p:nvPicPr>
          <p:cNvPr id="8" name="Picture 7" descr="A screenshot of a map&#10;&#10;Description generated with very high confidence">
            <a:extLst>
              <a:ext uri="{FF2B5EF4-FFF2-40B4-BE49-F238E27FC236}">
                <a16:creationId xmlns:a16="http://schemas.microsoft.com/office/drawing/2014/main" id="{E9B982E9-6323-4E02-8A2D-C72996955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6" y="860198"/>
            <a:ext cx="9711236" cy="536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1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52155"/>
            <a:ext cx="10972800" cy="1066800"/>
          </a:xfrm>
        </p:spPr>
        <p:txBody>
          <a:bodyPr/>
          <a:lstStyle/>
          <a:p>
            <a:r>
              <a:rPr lang="en-US" dirty="0"/>
              <a:t>Idea conceptual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C5FBD-1E0F-47BA-8ED8-73AD4DBD9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332" y="837718"/>
            <a:ext cx="6440582" cy="542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8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3">
                <a:lumMod val="20000"/>
                <a:lumOff val="80000"/>
              </a:schemeClr>
            </a:gs>
            <a:gs pos="40000">
              <a:schemeClr val="accent5">
                <a:lumMod val="20000"/>
                <a:lumOff val="80000"/>
              </a:schemeClr>
            </a:gs>
            <a:gs pos="24000">
              <a:schemeClr val="accent5">
                <a:lumMod val="20000"/>
                <a:lumOff val="8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30E45-78D8-4BA5-7F8C-9812F92FC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1061885"/>
            <a:ext cx="11847870" cy="5719914"/>
          </a:xfrm>
        </p:spPr>
        <p:txBody>
          <a:bodyPr/>
          <a:lstStyle/>
          <a:p>
            <a:r>
              <a:rPr lang="en-US" dirty="0" err="1"/>
              <a:t>Aunque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repositorio</a:t>
            </a:r>
            <a:r>
              <a:rPr lang="en-US" dirty="0"/>
              <a:t> sea </a:t>
            </a:r>
            <a:r>
              <a:rPr lang="en-US" dirty="0" err="1"/>
              <a:t>público</a:t>
            </a:r>
            <a:r>
              <a:rPr lang="en-US" dirty="0"/>
              <a:t>, se </a:t>
            </a:r>
            <a:r>
              <a:rPr lang="en-US" dirty="0" err="1"/>
              <a:t>tienen</a:t>
            </a:r>
            <a:r>
              <a:rPr lang="en-US" dirty="0"/>
              <a:t> que </a:t>
            </a:r>
            <a:r>
              <a:rPr lang="en-US" dirty="0" err="1"/>
              <a:t>ingresar</a:t>
            </a:r>
            <a:r>
              <a:rPr lang="en-US" dirty="0"/>
              <a:t> o </a:t>
            </a:r>
            <a:r>
              <a:rPr lang="en-US" dirty="0" err="1"/>
              <a:t>invitar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colaboradores</a:t>
            </a:r>
            <a:r>
              <a:rPr lang="en-US" dirty="0"/>
              <a:t>, </a:t>
            </a:r>
            <a:r>
              <a:rPr lang="en-US" dirty="0" err="1"/>
              <a:t>obvio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cuenta</a:t>
            </a:r>
            <a:r>
              <a:rPr lang="en-US" dirty="0"/>
              <a:t> de </a:t>
            </a:r>
            <a:r>
              <a:rPr lang="en-US" dirty="0" err="1"/>
              <a:t>github</a:t>
            </a:r>
            <a:r>
              <a:rPr lang="en-US" dirty="0"/>
              <a:t>, para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interactuar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aeptar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invitación</a:t>
            </a:r>
            <a:r>
              <a:rPr lang="en-US" dirty="0"/>
              <a:t> que </a:t>
            </a:r>
            <a:r>
              <a:rPr lang="en-US" dirty="0" err="1"/>
              <a:t>llega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correo</a:t>
            </a:r>
            <a:r>
              <a:rPr lang="en-US" dirty="0"/>
              <a:t>, para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operar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repositorio</a:t>
            </a:r>
            <a:r>
              <a:rPr lang="en-US" dirty="0"/>
              <a:t>.</a:t>
            </a:r>
          </a:p>
          <a:p>
            <a:r>
              <a:rPr lang="en-US" dirty="0"/>
              <a:t>El </a:t>
            </a:r>
            <a:r>
              <a:rPr lang="en-US" dirty="0" err="1"/>
              <a:t>invitado</a:t>
            </a:r>
            <a:r>
              <a:rPr lang="en-US" dirty="0"/>
              <a:t> a </a:t>
            </a:r>
            <a:r>
              <a:rPr lang="en-US" dirty="0" err="1"/>
              <a:t>participar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permiss</a:t>
            </a:r>
            <a:r>
              <a:rPr lang="en-US" dirty="0"/>
              <a:t> de </a:t>
            </a:r>
            <a:r>
              <a:rPr lang="en-US" dirty="0" err="1"/>
              <a:t>escritura</a:t>
            </a:r>
            <a:r>
              <a:rPr lang="en-US" dirty="0"/>
              <a:t> o no, y </a:t>
            </a:r>
            <a:r>
              <a:rPr lang="en-US" dirty="0" err="1"/>
              <a:t>eso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gran </a:t>
            </a:r>
            <a:r>
              <a:rPr lang="en-US" dirty="0" err="1"/>
              <a:t>diferencia</a:t>
            </a:r>
            <a:r>
              <a:rPr lang="en-US" dirty="0"/>
              <a:t>: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Opción 1: Te deben dar permisos de escritura (subes directo al repositorio)</a:t>
            </a:r>
            <a:endParaRPr lang="en-US" dirty="0"/>
          </a:p>
          <a:p>
            <a:pPr lvl="1"/>
            <a:endParaRPr lang="es-ES" dirty="0"/>
          </a:p>
          <a:p>
            <a:pPr lvl="1"/>
            <a:r>
              <a:rPr lang="es-ES" dirty="0"/>
              <a:t>Opción 2: Trabajar con </a:t>
            </a:r>
            <a:r>
              <a:rPr lang="es-ES" dirty="0" err="1"/>
              <a:t>fork</a:t>
            </a:r>
            <a:r>
              <a:rPr lang="es-ES" dirty="0"/>
              <a:t> (flujo típico de contribución en proyectos públicos</a:t>
            </a:r>
          </a:p>
          <a:p>
            <a:pPr marL="1046988" lvl="2" indent="-342900">
              <a:buFont typeface="+mj-lt"/>
              <a:buAutoNum type="arabicPeriod"/>
            </a:pPr>
            <a:r>
              <a:rPr lang="es-ES" sz="2800" dirty="0"/>
              <a:t>Sigues trabajando en tu </a:t>
            </a:r>
            <a:r>
              <a:rPr lang="es-ES" sz="2800" dirty="0" err="1"/>
              <a:t>fork</a:t>
            </a:r>
            <a:r>
              <a:rPr lang="es-ES" sz="2800" dirty="0"/>
              <a:t>.</a:t>
            </a:r>
          </a:p>
          <a:p>
            <a:pPr marL="1046988" lvl="2" indent="-342900">
              <a:buFont typeface="+mj-lt"/>
              <a:buAutoNum type="arabicPeriod"/>
            </a:pPr>
            <a:r>
              <a:rPr lang="es-ES" sz="2800" dirty="0"/>
              <a:t>Cuando termines una funcionalidad o arreglo, haces un </a:t>
            </a:r>
            <a:r>
              <a:rPr lang="es-ES" sz="2800" dirty="0" err="1"/>
              <a:t>Pull</a:t>
            </a:r>
            <a:r>
              <a:rPr lang="es-ES" sz="2800" dirty="0"/>
              <a:t> </a:t>
            </a:r>
            <a:r>
              <a:rPr lang="es-ES" sz="2800" dirty="0" err="1"/>
              <a:t>Request</a:t>
            </a:r>
            <a:r>
              <a:rPr lang="es-ES" sz="2800" dirty="0"/>
              <a:t> (PR) desde tu </a:t>
            </a:r>
            <a:r>
              <a:rPr lang="es-ES" sz="2800" dirty="0" err="1"/>
              <a:t>fork</a:t>
            </a:r>
            <a:r>
              <a:rPr lang="es-ES" sz="2800" dirty="0"/>
              <a:t> hacia el repositorio original.</a:t>
            </a:r>
          </a:p>
          <a:p>
            <a:pPr marL="1046988" lvl="2" indent="-342900">
              <a:buFont typeface="+mj-lt"/>
              <a:buAutoNum type="arabicPeriod"/>
            </a:pPr>
            <a:r>
              <a:rPr lang="es-ES" sz="2800" dirty="0"/>
              <a:t>Los mantenedores revisan y aprueban el PR, y entonces tus cambios se integran al repo principal.</a:t>
            </a:r>
            <a:endParaRPr lang="en-US" sz="2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F03A93-8949-311B-5294-9F47A96D8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76200"/>
            <a:ext cx="11916697" cy="81853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Tips </a:t>
            </a:r>
            <a:r>
              <a:rPr lang="en-US" b="1" dirty="0" err="1">
                <a:solidFill>
                  <a:srgbClr val="FF0000"/>
                </a:solidFill>
              </a:rPr>
              <a:t>importantes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02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3">
                <a:lumMod val="20000"/>
                <a:lumOff val="80000"/>
              </a:schemeClr>
            </a:gs>
            <a:gs pos="40000">
              <a:schemeClr val="accent5">
                <a:lumMod val="20000"/>
                <a:lumOff val="80000"/>
              </a:schemeClr>
            </a:gs>
            <a:gs pos="24000">
              <a:schemeClr val="accent5">
                <a:lumMod val="20000"/>
                <a:lumOff val="8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B0107-3E10-163A-0E5A-2EA7D9F0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E0C9D-CEB6-4EF4-347D-E69C76622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766917"/>
            <a:ext cx="11847870" cy="601488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s-ES" dirty="0"/>
              <a:t>En GitHub Desktop, revisa arriba a la izquierda:</a:t>
            </a:r>
          </a:p>
          <a:p>
            <a:r>
              <a:rPr lang="es-ES" dirty="0"/>
              <a:t>Si dice algo como </a:t>
            </a:r>
            <a:r>
              <a:rPr lang="es-ES" dirty="0" err="1"/>
              <a:t>tuUsuario</a:t>
            </a:r>
            <a:r>
              <a:rPr lang="es-ES" dirty="0"/>
              <a:t>/</a:t>
            </a:r>
            <a:r>
              <a:rPr lang="es-ES" dirty="0" err="1"/>
              <a:t>nombreRepo</a:t>
            </a:r>
            <a:r>
              <a:rPr lang="es-ES" dirty="0"/>
              <a:t>, estás en tu </a:t>
            </a:r>
            <a:r>
              <a:rPr lang="es-ES" dirty="0" err="1"/>
              <a:t>fork</a:t>
            </a:r>
            <a:r>
              <a:rPr lang="es-ES" dirty="0"/>
              <a:t>.</a:t>
            </a:r>
          </a:p>
          <a:p>
            <a:r>
              <a:rPr lang="es-ES" dirty="0"/>
              <a:t>Si dice organización/</a:t>
            </a:r>
            <a:r>
              <a:rPr lang="es-ES" dirty="0" err="1"/>
              <a:t>nombreRepo</a:t>
            </a:r>
            <a:r>
              <a:rPr lang="es-ES" dirty="0"/>
              <a:t> (o el usuario dueño del repo original), pero no te deja hacer </a:t>
            </a:r>
            <a:r>
              <a:rPr lang="es-ES" dirty="0" err="1"/>
              <a:t>push</a:t>
            </a:r>
            <a:r>
              <a:rPr lang="es-ES" dirty="0"/>
              <a:t> directo, entonces no tienes permisos de escritura.</a:t>
            </a:r>
          </a:p>
          <a:p>
            <a:endParaRPr lang="es-ES" dirty="0"/>
          </a:p>
          <a:p>
            <a:pPr marL="109728" indent="0">
              <a:buNone/>
            </a:pPr>
            <a:r>
              <a:rPr lang="en-US" dirty="0"/>
              <a:t>Paso 1: </a:t>
            </a:r>
            <a:r>
              <a:rPr lang="en-US" dirty="0" err="1"/>
              <a:t>Revisar</a:t>
            </a:r>
            <a:r>
              <a:rPr lang="en-US" dirty="0"/>
              <a:t> a </a:t>
            </a:r>
            <a:r>
              <a:rPr lang="en-US" dirty="0" err="1"/>
              <a:t>qué</a:t>
            </a:r>
            <a:r>
              <a:rPr lang="en-US" dirty="0"/>
              <a:t> repo </a:t>
            </a:r>
            <a:r>
              <a:rPr lang="en-US" dirty="0" err="1"/>
              <a:t>estás</a:t>
            </a:r>
            <a:r>
              <a:rPr lang="en-US" dirty="0"/>
              <a:t> </a:t>
            </a:r>
            <a:r>
              <a:rPr lang="en-US" dirty="0" err="1"/>
              <a:t>conectado</a:t>
            </a:r>
            <a:endParaRPr lang="en-US" dirty="0"/>
          </a:p>
          <a:p>
            <a:pPr marL="109728" indent="0">
              <a:buNone/>
            </a:pPr>
            <a:r>
              <a:rPr lang="en-US" dirty="0"/>
              <a:t>En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clon</a:t>
            </a:r>
            <a:r>
              <a:rPr lang="en-US" dirty="0"/>
              <a:t> local, </a:t>
            </a:r>
            <a:r>
              <a:rPr lang="en-US" dirty="0" err="1"/>
              <a:t>abre</a:t>
            </a:r>
            <a:r>
              <a:rPr lang="en-US" dirty="0"/>
              <a:t> la terminal (</a:t>
            </a:r>
            <a:r>
              <a:rPr lang="en-US" dirty="0" err="1"/>
              <a:t>puedes</a:t>
            </a:r>
            <a:r>
              <a:rPr lang="en-US" dirty="0"/>
              <a:t> </a:t>
            </a:r>
            <a:r>
              <a:rPr lang="en-US" dirty="0" err="1"/>
              <a:t>hacerlo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GitHub Desktop → Repository → Open in Terminal) y </a:t>
            </a:r>
            <a:r>
              <a:rPr lang="en-US" dirty="0" err="1"/>
              <a:t>ejecuta</a:t>
            </a:r>
            <a:r>
              <a:rPr lang="en-US" dirty="0"/>
              <a:t>: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/>
              <a:t>git remote –v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/>
              <a:t>Eso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mostrará</a:t>
            </a:r>
            <a:r>
              <a:rPr lang="en-US" dirty="0"/>
              <a:t> algo </a:t>
            </a:r>
            <a:r>
              <a:rPr lang="en-US" dirty="0" err="1"/>
              <a:t>como</a:t>
            </a:r>
            <a:r>
              <a:rPr lang="en-US" dirty="0"/>
              <a:t>:</a:t>
            </a:r>
          </a:p>
          <a:p>
            <a:pPr marL="109728" indent="0">
              <a:buNone/>
            </a:pPr>
            <a:r>
              <a:rPr lang="en-US" dirty="0"/>
              <a:t>origin  https://github.com/TU-USUARIO/REPO-FORK.git (fetch)</a:t>
            </a:r>
          </a:p>
          <a:p>
            <a:pPr marL="109728" indent="0">
              <a:buNone/>
            </a:pPr>
            <a:r>
              <a:rPr lang="en-US" dirty="0"/>
              <a:t>origin  https://github.com/TU-USUARIO/REPO-FORK.git (push)</a:t>
            </a:r>
          </a:p>
          <a:p>
            <a:pPr marL="109728" indent="0">
              <a:buNone/>
            </a:pPr>
            <a:r>
              <a:rPr lang="en-US" dirty="0"/>
              <a:t>👉 Si </a:t>
            </a:r>
            <a:r>
              <a:rPr lang="en-US" dirty="0" err="1"/>
              <a:t>ves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URL, </a:t>
            </a:r>
            <a:r>
              <a:rPr lang="en-US" dirty="0" err="1"/>
              <a:t>significa</a:t>
            </a:r>
            <a:r>
              <a:rPr lang="en-US" dirty="0"/>
              <a:t> que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apuntando</a:t>
            </a:r>
            <a:r>
              <a:rPr lang="en-US" dirty="0"/>
              <a:t> a </a:t>
            </a:r>
            <a:r>
              <a:rPr lang="en-US" dirty="0" err="1"/>
              <a:t>tu</a:t>
            </a:r>
            <a:r>
              <a:rPr lang="en-US" dirty="0"/>
              <a:t> fork.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5C2C85-EBEC-8978-866D-4EAE6DDB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76201"/>
            <a:ext cx="11916697" cy="69071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Tips </a:t>
            </a:r>
            <a:r>
              <a:rPr lang="en-US" b="1" dirty="0" err="1">
                <a:solidFill>
                  <a:srgbClr val="FF0000"/>
                </a:solidFill>
              </a:rPr>
              <a:t>importantes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074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3">
                <a:lumMod val="20000"/>
                <a:lumOff val="80000"/>
              </a:schemeClr>
            </a:gs>
            <a:gs pos="40000">
              <a:schemeClr val="accent5">
                <a:lumMod val="20000"/>
                <a:lumOff val="80000"/>
              </a:schemeClr>
            </a:gs>
            <a:gs pos="24000">
              <a:schemeClr val="accent5">
                <a:lumMod val="20000"/>
                <a:lumOff val="8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E46EF-8FEB-E235-40B9-169B01DB7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7414C-A5F3-58DB-21A2-93FA14A1E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766917"/>
            <a:ext cx="11847870" cy="601488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s-ES" dirty="0"/>
              <a:t>Cambiar el remoto al repo original</a:t>
            </a:r>
          </a:p>
          <a:p>
            <a:pPr marL="109728" indent="0">
              <a:buNone/>
            </a:pPr>
            <a:r>
              <a:rPr lang="es-ES" dirty="0"/>
              <a:t>Pide a tu equipo la URL del repo original (ejemplo: </a:t>
            </a:r>
            <a:r>
              <a:rPr lang="es-ES" dirty="0">
                <a:hlinkClick r:id="rId2"/>
              </a:rPr>
              <a:t>https://github.com/ORGANIZACION/REPO.git</a:t>
            </a:r>
            <a:r>
              <a:rPr lang="es-ES" dirty="0"/>
              <a:t>).</a:t>
            </a:r>
          </a:p>
          <a:p>
            <a:pPr marL="109728" indent="0">
              <a:buNone/>
            </a:pPr>
            <a:r>
              <a:rPr lang="es-ES" dirty="0"/>
              <a:t>Luego, cambia el remoto </a:t>
            </a:r>
            <a:r>
              <a:rPr lang="es-ES" dirty="0" err="1"/>
              <a:t>origin</a:t>
            </a:r>
            <a:r>
              <a:rPr lang="es-ES" dirty="0"/>
              <a:t> con:</a:t>
            </a:r>
          </a:p>
          <a:p>
            <a:pPr marL="109728" indent="0">
              <a:buNone/>
            </a:pPr>
            <a:r>
              <a:rPr lang="es-ES" dirty="0" err="1"/>
              <a:t>git</a:t>
            </a:r>
            <a:r>
              <a:rPr lang="es-ES" dirty="0"/>
              <a:t> remote set-</a:t>
            </a:r>
            <a:r>
              <a:rPr lang="es-ES" dirty="0" err="1"/>
              <a:t>url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</a:t>
            </a:r>
            <a:r>
              <a:rPr lang="es-ES" dirty="0">
                <a:hlinkClick r:id="rId2"/>
              </a:rPr>
              <a:t>https://github.com/ORGANIZACION/REPO.git</a:t>
            </a:r>
            <a:endParaRPr lang="es-ES" dirty="0"/>
          </a:p>
          <a:p>
            <a:pPr marL="109728" indent="0">
              <a:buNone/>
            </a:pPr>
            <a:endParaRPr lang="es-ES" dirty="0"/>
          </a:p>
          <a:p>
            <a:pPr marL="109728" indent="0">
              <a:buNone/>
            </a:pPr>
            <a:r>
              <a:rPr lang="es-ES" dirty="0"/>
              <a:t>Confirmar el </a:t>
            </a:r>
            <a:r>
              <a:rPr lang="es-ES" dirty="0" err="1"/>
              <a:t>cambioVuelve</a:t>
            </a:r>
            <a:r>
              <a:rPr lang="es-ES" dirty="0"/>
              <a:t> a verificar:</a:t>
            </a:r>
          </a:p>
          <a:p>
            <a:pPr marL="109728" indent="0">
              <a:buNone/>
            </a:pPr>
            <a:r>
              <a:rPr lang="es-ES" dirty="0" err="1"/>
              <a:t>git</a:t>
            </a:r>
            <a:r>
              <a:rPr lang="es-ES" dirty="0"/>
              <a:t> remote –v</a:t>
            </a:r>
          </a:p>
          <a:p>
            <a:pPr marL="109728" indent="0">
              <a:buNone/>
            </a:pPr>
            <a:r>
              <a:rPr lang="es-ES" dirty="0"/>
              <a:t>Debería salir ahora el repo original:</a:t>
            </a:r>
          </a:p>
          <a:p>
            <a:pPr marL="109728" indent="0">
              <a:buNone/>
            </a:pPr>
            <a:r>
              <a:rPr lang="es-ES" dirty="0" err="1"/>
              <a:t>origin</a:t>
            </a:r>
            <a:r>
              <a:rPr lang="es-ES" dirty="0"/>
              <a:t>  https://github.com/ORGANIZACION/REPO.git (</a:t>
            </a:r>
            <a:r>
              <a:rPr lang="es-ES" dirty="0" err="1"/>
              <a:t>fetch</a:t>
            </a:r>
            <a:r>
              <a:rPr lang="es-ES" dirty="0"/>
              <a:t>)</a:t>
            </a:r>
          </a:p>
          <a:p>
            <a:pPr marL="109728" indent="0">
              <a:buNone/>
            </a:pPr>
            <a:r>
              <a:rPr lang="es-ES" dirty="0" err="1"/>
              <a:t>origin</a:t>
            </a:r>
            <a:r>
              <a:rPr lang="es-ES" dirty="0"/>
              <a:t>  https://github.com/ORGANIZACION/REPO.git (</a:t>
            </a:r>
            <a:r>
              <a:rPr lang="es-ES" dirty="0" err="1"/>
              <a:t>push</a:t>
            </a:r>
            <a:r>
              <a:rPr lang="es-ES" dirty="0"/>
              <a:t>)</a:t>
            </a:r>
          </a:p>
          <a:p>
            <a:pPr marL="109728" indent="0">
              <a:buNone/>
            </a:pPr>
            <a:endParaRPr lang="es-ES" dirty="0"/>
          </a:p>
          <a:p>
            <a:pPr marL="109728" indent="0">
              <a:buNone/>
            </a:pPr>
            <a:r>
              <a:rPr lang="es-ES" dirty="0"/>
              <a:t>Nota: Si todavía </a:t>
            </a:r>
            <a:r>
              <a:rPr lang="es-ES" b="1" dirty="0"/>
              <a:t>no te han dado permisos de escritura</a:t>
            </a:r>
            <a:r>
              <a:rPr lang="es-ES" dirty="0"/>
              <a:t>, este paso fallará. En ese caso, lo que te toca es seguir con la estrategia de </a:t>
            </a:r>
            <a:r>
              <a:rPr lang="es-ES" b="1" dirty="0" err="1"/>
              <a:t>Pull</a:t>
            </a:r>
            <a:r>
              <a:rPr lang="es-ES" b="1" dirty="0"/>
              <a:t> </a:t>
            </a:r>
            <a:r>
              <a:rPr lang="es-ES" b="1" dirty="0" err="1"/>
              <a:t>Requests</a:t>
            </a:r>
            <a:r>
              <a:rPr lang="es-ES" b="1" dirty="0"/>
              <a:t> desde tu </a:t>
            </a:r>
            <a:r>
              <a:rPr lang="es-ES" b="1" dirty="0" err="1"/>
              <a:t>fork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539609-C972-B096-F4C7-9C92C4A3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76201"/>
            <a:ext cx="11916697" cy="69071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Tips </a:t>
            </a:r>
            <a:r>
              <a:rPr lang="en-US" b="1" dirty="0" err="1">
                <a:solidFill>
                  <a:srgbClr val="FF0000"/>
                </a:solidFill>
              </a:rPr>
              <a:t>importantes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839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3">
                <a:lumMod val="20000"/>
                <a:lumOff val="80000"/>
              </a:schemeClr>
            </a:gs>
            <a:gs pos="40000">
              <a:schemeClr val="accent5">
                <a:lumMod val="20000"/>
                <a:lumOff val="80000"/>
              </a:schemeClr>
            </a:gs>
            <a:gs pos="24000">
              <a:schemeClr val="accent5">
                <a:lumMod val="20000"/>
                <a:lumOff val="8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FD688-BD82-4C37-6D1B-44794256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FD569-064D-AAC5-0DDA-C6BED1BE4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766917"/>
            <a:ext cx="11847870" cy="601488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s-ES" sz="1600" b="1" dirty="0"/>
              <a:t>¿Qué es un </a:t>
            </a:r>
            <a:r>
              <a:rPr lang="es-ES" sz="1600" b="1" dirty="0" err="1"/>
              <a:t>Pull</a:t>
            </a:r>
            <a:r>
              <a:rPr lang="es-ES" sz="1600" b="1" dirty="0"/>
              <a:t> </a:t>
            </a:r>
            <a:r>
              <a:rPr lang="es-ES" sz="1600" b="1" dirty="0" err="1"/>
              <a:t>Request</a:t>
            </a:r>
            <a:r>
              <a:rPr lang="es-ES" sz="1600" b="1" dirty="0"/>
              <a:t> (PR)?</a:t>
            </a:r>
          </a:p>
          <a:p>
            <a:pPr marL="109728" indent="0">
              <a:buNone/>
            </a:pPr>
            <a:r>
              <a:rPr lang="es-ES" sz="1600" dirty="0"/>
              <a:t>Un </a:t>
            </a:r>
            <a:r>
              <a:rPr lang="es-ES" sz="1600" dirty="0" err="1"/>
              <a:t>Pull</a:t>
            </a:r>
            <a:r>
              <a:rPr lang="es-ES" sz="1600" dirty="0"/>
              <a:t> </a:t>
            </a:r>
            <a:r>
              <a:rPr lang="es-ES" sz="1600" dirty="0" err="1"/>
              <a:t>Request</a:t>
            </a:r>
            <a:r>
              <a:rPr lang="es-ES" sz="1600" dirty="0"/>
              <a:t> (en GitHub) es una solicitud de cambios:</a:t>
            </a:r>
          </a:p>
          <a:p>
            <a:r>
              <a:rPr lang="es-ES" sz="1600" dirty="0"/>
              <a:t>Tú trabajas en tu </a:t>
            </a:r>
            <a:r>
              <a:rPr lang="es-ES" sz="1600" dirty="0" err="1"/>
              <a:t>fork</a:t>
            </a:r>
            <a:r>
              <a:rPr lang="es-ES" sz="1600" dirty="0"/>
              <a:t> o en una rama dentro del repo.</a:t>
            </a:r>
          </a:p>
          <a:p>
            <a:r>
              <a:rPr lang="es-ES" sz="1600" dirty="0"/>
              <a:t>Subes tus cambios (</a:t>
            </a:r>
            <a:r>
              <a:rPr lang="es-ES" sz="1600" dirty="0" err="1"/>
              <a:t>push</a:t>
            </a:r>
            <a:r>
              <a:rPr lang="es-ES" sz="1600" dirty="0"/>
              <a:t>) a tu repositorio (o rama).</a:t>
            </a:r>
          </a:p>
          <a:p>
            <a:r>
              <a:rPr lang="es-ES" sz="1600" dirty="0"/>
              <a:t>Luego le dices al repo original: "Oye, quiero que mis cambios se unan a tu repositorio".</a:t>
            </a:r>
          </a:p>
          <a:p>
            <a:r>
              <a:rPr lang="es-ES" sz="1600" dirty="0"/>
              <a:t>Eso es un </a:t>
            </a:r>
            <a:r>
              <a:rPr lang="es-ES" sz="1600" dirty="0" err="1"/>
              <a:t>Pull</a:t>
            </a:r>
            <a:r>
              <a:rPr lang="es-ES" sz="1600" dirty="0"/>
              <a:t> </a:t>
            </a:r>
            <a:r>
              <a:rPr lang="es-ES" sz="1600" dirty="0" err="1"/>
              <a:t>Request</a:t>
            </a:r>
            <a:r>
              <a:rPr lang="es-ES" sz="1600" dirty="0"/>
              <a:t>.</a:t>
            </a:r>
          </a:p>
          <a:p>
            <a:endParaRPr lang="es-ES" sz="1600" dirty="0"/>
          </a:p>
          <a:p>
            <a:r>
              <a:rPr lang="es-ES" sz="1600" dirty="0"/>
              <a:t>El equipo que mantiene el repo revisa tu PR, puede hacerte comentarios, pedir ajustes, y si todo está bien, lo aprueban y tus cambios se fusionan al repositorio original.</a:t>
            </a:r>
          </a:p>
          <a:p>
            <a:pPr marL="109728" indent="0">
              <a:buNone/>
            </a:pPr>
            <a:endParaRPr lang="es-ES" sz="1600" dirty="0"/>
          </a:p>
          <a:p>
            <a:pPr marL="109728" indent="0">
              <a:buNone/>
            </a:pPr>
            <a:endParaRPr lang="en-US" sz="16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01D883-4495-A2FC-DA7A-F8823974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76201"/>
            <a:ext cx="11916697" cy="818534"/>
          </a:xfrm>
        </p:spPr>
        <p:txBody>
          <a:bodyPr>
            <a:norm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Que es el </a:t>
            </a:r>
            <a:r>
              <a:rPr lang="es-ES" b="1" dirty="0" err="1">
                <a:solidFill>
                  <a:srgbClr val="FF0000"/>
                </a:solidFill>
              </a:rPr>
              <a:t>pull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request</a:t>
            </a:r>
            <a:r>
              <a:rPr lang="es-ES" b="1" dirty="0">
                <a:solidFill>
                  <a:srgbClr val="FF0000"/>
                </a:solidFill>
              </a:rPr>
              <a:t> y como lo realizo?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326730-08B2-C37A-62BE-76DCACD40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348" y="3101020"/>
            <a:ext cx="5133762" cy="3756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8B4125-077E-0638-AA4E-DF7C54FFE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90" y="5588119"/>
            <a:ext cx="5905100" cy="1193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ECCCBD-A721-37C4-B4AA-3B721491E309}"/>
              </a:ext>
            </a:extLst>
          </p:cNvPr>
          <p:cNvSpPr txBox="1"/>
          <p:nvPr/>
        </p:nvSpPr>
        <p:spPr>
          <a:xfrm flipH="1">
            <a:off x="1769806" y="5127197"/>
            <a:ext cx="2802194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000" b="1" dirty="0"/>
              <a:t>Pull Request</a:t>
            </a:r>
          </a:p>
        </p:txBody>
      </p:sp>
    </p:spTree>
    <p:extLst>
      <p:ext uri="{BB962C8B-B14F-4D97-AF65-F5344CB8AC3E}">
        <p14:creationId xmlns:p14="http://schemas.microsoft.com/office/powerpoint/2010/main" val="3165602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heet lightning design templat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heet lightning design template" id="{3C7F4788-DDC0-4920-9533-B71320CCC66E}" vid="{0908A3B0-C8DC-46EA-AE85-02A6416ABACD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D327B88-09D0-470A-ABD6-1E03323FAF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Sheet lightning design slides</Template>
  <TotalTime>79</TotalTime>
  <Words>1192</Words>
  <Application>Microsoft Office PowerPoint</Application>
  <PresentationFormat>Widescreen</PresentationFormat>
  <Paragraphs>127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Unicode MS</vt:lpstr>
      <vt:lpstr>Century Gothic</vt:lpstr>
      <vt:lpstr>Wingdings 3</vt:lpstr>
      <vt:lpstr>Sheet lightning design template</vt:lpstr>
      <vt:lpstr>Control de versiones Git</vt:lpstr>
      <vt:lpstr>¿Que características tiene un buen repositorio?</vt:lpstr>
      <vt:lpstr>Pasos para asignar proyecto local al git</vt:lpstr>
      <vt:lpstr>Posibles escenarios</vt:lpstr>
      <vt:lpstr>Posibles escenarios</vt:lpstr>
      <vt:lpstr>Herramientas para el developer</vt:lpstr>
      <vt:lpstr>Comandos más comunes</vt:lpstr>
      <vt:lpstr>Idea conceptual 1</vt:lpstr>
      <vt:lpstr>Idea conceptual 2</vt:lpstr>
      <vt:lpstr>Tips importantes</vt:lpstr>
      <vt:lpstr>Tips importantes</vt:lpstr>
      <vt:lpstr>Tips importantes</vt:lpstr>
      <vt:lpstr>Que es el pull request y como lo realizo?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DAVID PEREZ TINOCO</cp:lastModifiedBy>
  <cp:revision>15</cp:revision>
  <dcterms:created xsi:type="dcterms:W3CDTF">2018-01-22T19:00:33Z</dcterms:created>
  <dcterms:modified xsi:type="dcterms:W3CDTF">2025-08-22T22:03:43Z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TC034605759991</vt:lpwstr>
  </property>
</Properties>
</file>