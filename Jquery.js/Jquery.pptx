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E5FF"/>
    <a:srgbClr val="C59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0F41CD-F8F0-4772-A8E7-8115D058282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C93A6F-7D01-4ACA-813E-6F1182EBDCB5}">
      <dgm:prSet/>
      <dgm:spPr/>
      <dgm:t>
        <a:bodyPr/>
        <a:lstStyle/>
        <a:p>
          <a:r>
            <a:rPr lang="es-MX" dirty="0" err="1"/>
            <a:t>Fetch</a:t>
          </a:r>
          <a:r>
            <a:rPr lang="es-MX" dirty="0"/>
            <a:t> API (Nativo)</a:t>
          </a:r>
          <a:endParaRPr lang="en-US" dirty="0"/>
        </a:p>
      </dgm:t>
    </dgm:pt>
    <dgm:pt modelId="{03E81705-9CB4-4E56-ADFD-70E848A59637}" type="parTrans" cxnId="{7514F4D3-9E79-4FA4-A34A-336C50D52F73}">
      <dgm:prSet/>
      <dgm:spPr/>
      <dgm:t>
        <a:bodyPr/>
        <a:lstStyle/>
        <a:p>
          <a:endParaRPr lang="en-US"/>
        </a:p>
      </dgm:t>
    </dgm:pt>
    <dgm:pt modelId="{4AD3E1AD-8C5E-462E-9691-C170E1869CDE}" type="sibTrans" cxnId="{7514F4D3-9E79-4FA4-A34A-336C50D52F73}">
      <dgm:prSet/>
      <dgm:spPr/>
      <dgm:t>
        <a:bodyPr/>
        <a:lstStyle/>
        <a:p>
          <a:endParaRPr lang="en-US"/>
        </a:p>
      </dgm:t>
    </dgm:pt>
    <dgm:pt modelId="{03CEE64A-D1FC-4FBD-B7F3-E5EE1FAA2294}">
      <dgm:prSet/>
      <dgm:spPr/>
      <dgm:t>
        <a:bodyPr/>
        <a:lstStyle/>
        <a:p>
          <a:r>
            <a:rPr lang="es-MX" dirty="0"/>
            <a:t>Axios (Librería)</a:t>
          </a:r>
          <a:endParaRPr lang="en-US" dirty="0"/>
        </a:p>
      </dgm:t>
    </dgm:pt>
    <dgm:pt modelId="{72B50582-1E4C-48A9-B073-2080622AAD55}" type="parTrans" cxnId="{ADD667E2-EBEB-4E86-AB53-80EC85C4B70B}">
      <dgm:prSet/>
      <dgm:spPr/>
      <dgm:t>
        <a:bodyPr/>
        <a:lstStyle/>
        <a:p>
          <a:endParaRPr lang="en-US"/>
        </a:p>
      </dgm:t>
    </dgm:pt>
    <dgm:pt modelId="{F622A42B-6D63-4537-8D55-3F224133A885}" type="sibTrans" cxnId="{ADD667E2-EBEB-4E86-AB53-80EC85C4B70B}">
      <dgm:prSet/>
      <dgm:spPr/>
      <dgm:t>
        <a:bodyPr/>
        <a:lstStyle/>
        <a:p>
          <a:endParaRPr lang="en-US"/>
        </a:p>
      </dgm:t>
    </dgm:pt>
    <dgm:pt modelId="{8582DDF7-7EA1-4BC6-AA2D-9C53BAE822C0}">
      <dgm:prSet/>
      <dgm:spPr/>
      <dgm:t>
        <a:bodyPr/>
        <a:lstStyle/>
        <a:p>
          <a:r>
            <a:rPr lang="es-MX"/>
            <a:t>Async / Await</a:t>
          </a:r>
          <a:endParaRPr lang="en-US"/>
        </a:p>
      </dgm:t>
    </dgm:pt>
    <dgm:pt modelId="{02908E46-073C-4475-9EFB-015F9749D522}" type="parTrans" cxnId="{D5BC6E7D-5084-4E1A-9934-F72DB8EC69B5}">
      <dgm:prSet/>
      <dgm:spPr/>
      <dgm:t>
        <a:bodyPr/>
        <a:lstStyle/>
        <a:p>
          <a:endParaRPr lang="en-US"/>
        </a:p>
      </dgm:t>
    </dgm:pt>
    <dgm:pt modelId="{E7C56550-9BCD-4209-9FEC-67BDD469788B}" type="sibTrans" cxnId="{D5BC6E7D-5084-4E1A-9934-F72DB8EC69B5}">
      <dgm:prSet/>
      <dgm:spPr/>
      <dgm:t>
        <a:bodyPr/>
        <a:lstStyle/>
        <a:p>
          <a:endParaRPr lang="en-US"/>
        </a:p>
      </dgm:t>
    </dgm:pt>
    <dgm:pt modelId="{E638794B-947B-48E4-A5F0-8F11642D0FA6}" type="pres">
      <dgm:prSet presAssocID="{AF0F41CD-F8F0-4772-A8E7-8115D058282F}" presName="vert0" presStyleCnt="0">
        <dgm:presLayoutVars>
          <dgm:dir/>
          <dgm:animOne val="branch"/>
          <dgm:animLvl val="lvl"/>
        </dgm:presLayoutVars>
      </dgm:prSet>
      <dgm:spPr/>
    </dgm:pt>
    <dgm:pt modelId="{1749EDB1-B586-4EB7-9527-B9449FBC9EF0}" type="pres">
      <dgm:prSet presAssocID="{A8C93A6F-7D01-4ACA-813E-6F1182EBDCB5}" presName="thickLine" presStyleLbl="alignNode1" presStyleIdx="0" presStyleCnt="3"/>
      <dgm:spPr/>
    </dgm:pt>
    <dgm:pt modelId="{920533EA-E2F7-4941-B743-31F803317949}" type="pres">
      <dgm:prSet presAssocID="{A8C93A6F-7D01-4ACA-813E-6F1182EBDCB5}" presName="horz1" presStyleCnt="0"/>
      <dgm:spPr/>
    </dgm:pt>
    <dgm:pt modelId="{107DBB34-E3B4-4CB6-8D6B-ACDCA6BC48FA}" type="pres">
      <dgm:prSet presAssocID="{A8C93A6F-7D01-4ACA-813E-6F1182EBDCB5}" presName="tx1" presStyleLbl="revTx" presStyleIdx="0" presStyleCnt="3"/>
      <dgm:spPr/>
    </dgm:pt>
    <dgm:pt modelId="{428C08B3-E308-433A-91A3-137F71849CC5}" type="pres">
      <dgm:prSet presAssocID="{A8C93A6F-7D01-4ACA-813E-6F1182EBDCB5}" presName="vert1" presStyleCnt="0"/>
      <dgm:spPr/>
    </dgm:pt>
    <dgm:pt modelId="{D8D774A6-E417-4F7D-8879-3237B0A0F190}" type="pres">
      <dgm:prSet presAssocID="{03CEE64A-D1FC-4FBD-B7F3-E5EE1FAA2294}" presName="thickLine" presStyleLbl="alignNode1" presStyleIdx="1" presStyleCnt="3"/>
      <dgm:spPr/>
    </dgm:pt>
    <dgm:pt modelId="{BAE8C1A5-E558-4375-9C93-E254A0C9DC35}" type="pres">
      <dgm:prSet presAssocID="{03CEE64A-D1FC-4FBD-B7F3-E5EE1FAA2294}" presName="horz1" presStyleCnt="0"/>
      <dgm:spPr/>
    </dgm:pt>
    <dgm:pt modelId="{F022FB90-3975-4445-A273-BC63C5E1E1B9}" type="pres">
      <dgm:prSet presAssocID="{03CEE64A-D1FC-4FBD-B7F3-E5EE1FAA2294}" presName="tx1" presStyleLbl="revTx" presStyleIdx="1" presStyleCnt="3"/>
      <dgm:spPr/>
    </dgm:pt>
    <dgm:pt modelId="{FB827CB3-A668-4C93-8C93-415138A02306}" type="pres">
      <dgm:prSet presAssocID="{03CEE64A-D1FC-4FBD-B7F3-E5EE1FAA2294}" presName="vert1" presStyleCnt="0"/>
      <dgm:spPr/>
    </dgm:pt>
    <dgm:pt modelId="{D5009E10-DE91-4322-ADBF-B80A5DE814B5}" type="pres">
      <dgm:prSet presAssocID="{8582DDF7-7EA1-4BC6-AA2D-9C53BAE822C0}" presName="thickLine" presStyleLbl="alignNode1" presStyleIdx="2" presStyleCnt="3"/>
      <dgm:spPr/>
    </dgm:pt>
    <dgm:pt modelId="{ACF579FE-21A3-40AD-BB62-5A09AD5F5E24}" type="pres">
      <dgm:prSet presAssocID="{8582DDF7-7EA1-4BC6-AA2D-9C53BAE822C0}" presName="horz1" presStyleCnt="0"/>
      <dgm:spPr/>
    </dgm:pt>
    <dgm:pt modelId="{90FE9A24-2312-4B9C-A856-153FB2B6112A}" type="pres">
      <dgm:prSet presAssocID="{8582DDF7-7EA1-4BC6-AA2D-9C53BAE822C0}" presName="tx1" presStyleLbl="revTx" presStyleIdx="2" presStyleCnt="3"/>
      <dgm:spPr/>
    </dgm:pt>
    <dgm:pt modelId="{934083E1-E968-4B87-85C1-6E69582727FB}" type="pres">
      <dgm:prSet presAssocID="{8582DDF7-7EA1-4BC6-AA2D-9C53BAE822C0}" presName="vert1" presStyleCnt="0"/>
      <dgm:spPr/>
    </dgm:pt>
  </dgm:ptLst>
  <dgm:cxnLst>
    <dgm:cxn modelId="{7F63F000-91DF-473C-8989-67640F8B7D3F}" type="presOf" srcId="{A8C93A6F-7D01-4ACA-813E-6F1182EBDCB5}" destId="{107DBB34-E3B4-4CB6-8D6B-ACDCA6BC48FA}" srcOrd="0" destOrd="0" presId="urn:microsoft.com/office/officeart/2008/layout/LinedList"/>
    <dgm:cxn modelId="{7BFAB811-B556-48F2-B846-90D21A67530A}" type="presOf" srcId="{8582DDF7-7EA1-4BC6-AA2D-9C53BAE822C0}" destId="{90FE9A24-2312-4B9C-A856-153FB2B6112A}" srcOrd="0" destOrd="0" presId="urn:microsoft.com/office/officeart/2008/layout/LinedList"/>
    <dgm:cxn modelId="{D5BC6E7D-5084-4E1A-9934-F72DB8EC69B5}" srcId="{AF0F41CD-F8F0-4772-A8E7-8115D058282F}" destId="{8582DDF7-7EA1-4BC6-AA2D-9C53BAE822C0}" srcOrd="2" destOrd="0" parTransId="{02908E46-073C-4475-9EFB-015F9749D522}" sibTransId="{E7C56550-9BCD-4209-9FEC-67BDD469788B}"/>
    <dgm:cxn modelId="{51465789-E151-4E4E-B676-97A820CAA552}" type="presOf" srcId="{AF0F41CD-F8F0-4772-A8E7-8115D058282F}" destId="{E638794B-947B-48E4-A5F0-8F11642D0FA6}" srcOrd="0" destOrd="0" presId="urn:microsoft.com/office/officeart/2008/layout/LinedList"/>
    <dgm:cxn modelId="{7514F4D3-9E79-4FA4-A34A-336C50D52F73}" srcId="{AF0F41CD-F8F0-4772-A8E7-8115D058282F}" destId="{A8C93A6F-7D01-4ACA-813E-6F1182EBDCB5}" srcOrd="0" destOrd="0" parTransId="{03E81705-9CB4-4E56-ADFD-70E848A59637}" sibTransId="{4AD3E1AD-8C5E-462E-9691-C170E1869CDE}"/>
    <dgm:cxn modelId="{ADD667E2-EBEB-4E86-AB53-80EC85C4B70B}" srcId="{AF0F41CD-F8F0-4772-A8E7-8115D058282F}" destId="{03CEE64A-D1FC-4FBD-B7F3-E5EE1FAA2294}" srcOrd="1" destOrd="0" parTransId="{72B50582-1E4C-48A9-B073-2080622AAD55}" sibTransId="{F622A42B-6D63-4537-8D55-3F224133A885}"/>
    <dgm:cxn modelId="{B5590CE7-DEA0-44D1-8A90-C67378722FE5}" type="presOf" srcId="{03CEE64A-D1FC-4FBD-B7F3-E5EE1FAA2294}" destId="{F022FB90-3975-4445-A273-BC63C5E1E1B9}" srcOrd="0" destOrd="0" presId="urn:microsoft.com/office/officeart/2008/layout/LinedList"/>
    <dgm:cxn modelId="{2BCE4AAA-741A-4A18-9D47-E5141AEAC164}" type="presParOf" srcId="{E638794B-947B-48E4-A5F0-8F11642D0FA6}" destId="{1749EDB1-B586-4EB7-9527-B9449FBC9EF0}" srcOrd="0" destOrd="0" presId="urn:microsoft.com/office/officeart/2008/layout/LinedList"/>
    <dgm:cxn modelId="{57FD9297-7800-4935-ADA3-B7982B24DC38}" type="presParOf" srcId="{E638794B-947B-48E4-A5F0-8F11642D0FA6}" destId="{920533EA-E2F7-4941-B743-31F803317949}" srcOrd="1" destOrd="0" presId="urn:microsoft.com/office/officeart/2008/layout/LinedList"/>
    <dgm:cxn modelId="{65844AF2-4EBA-4865-8B50-E2ABD16CFE21}" type="presParOf" srcId="{920533EA-E2F7-4941-B743-31F803317949}" destId="{107DBB34-E3B4-4CB6-8D6B-ACDCA6BC48FA}" srcOrd="0" destOrd="0" presId="urn:microsoft.com/office/officeart/2008/layout/LinedList"/>
    <dgm:cxn modelId="{42084FDE-B676-428B-98AA-18521BF79B9C}" type="presParOf" srcId="{920533EA-E2F7-4941-B743-31F803317949}" destId="{428C08B3-E308-433A-91A3-137F71849CC5}" srcOrd="1" destOrd="0" presId="urn:microsoft.com/office/officeart/2008/layout/LinedList"/>
    <dgm:cxn modelId="{556E7CA7-4725-446D-A75E-86636466AC8C}" type="presParOf" srcId="{E638794B-947B-48E4-A5F0-8F11642D0FA6}" destId="{D8D774A6-E417-4F7D-8879-3237B0A0F190}" srcOrd="2" destOrd="0" presId="urn:microsoft.com/office/officeart/2008/layout/LinedList"/>
    <dgm:cxn modelId="{AF935DA3-5826-4673-9FF0-33F33FEF2C7E}" type="presParOf" srcId="{E638794B-947B-48E4-A5F0-8F11642D0FA6}" destId="{BAE8C1A5-E558-4375-9C93-E254A0C9DC35}" srcOrd="3" destOrd="0" presId="urn:microsoft.com/office/officeart/2008/layout/LinedList"/>
    <dgm:cxn modelId="{D4A076C0-13B3-4EBE-AB7F-5726C5437CE9}" type="presParOf" srcId="{BAE8C1A5-E558-4375-9C93-E254A0C9DC35}" destId="{F022FB90-3975-4445-A273-BC63C5E1E1B9}" srcOrd="0" destOrd="0" presId="urn:microsoft.com/office/officeart/2008/layout/LinedList"/>
    <dgm:cxn modelId="{C2750A0A-AEB5-408F-B30A-C61DF6808BE3}" type="presParOf" srcId="{BAE8C1A5-E558-4375-9C93-E254A0C9DC35}" destId="{FB827CB3-A668-4C93-8C93-415138A02306}" srcOrd="1" destOrd="0" presId="urn:microsoft.com/office/officeart/2008/layout/LinedList"/>
    <dgm:cxn modelId="{30E0F492-18BA-4846-9BE8-EC49D1B0266F}" type="presParOf" srcId="{E638794B-947B-48E4-A5F0-8F11642D0FA6}" destId="{D5009E10-DE91-4322-ADBF-B80A5DE814B5}" srcOrd="4" destOrd="0" presId="urn:microsoft.com/office/officeart/2008/layout/LinedList"/>
    <dgm:cxn modelId="{EBE5CC32-CADD-4F44-B183-838881AB2D87}" type="presParOf" srcId="{E638794B-947B-48E4-A5F0-8F11642D0FA6}" destId="{ACF579FE-21A3-40AD-BB62-5A09AD5F5E24}" srcOrd="5" destOrd="0" presId="urn:microsoft.com/office/officeart/2008/layout/LinedList"/>
    <dgm:cxn modelId="{FC69185E-C1A1-4DE3-8A6A-799120CF9055}" type="presParOf" srcId="{ACF579FE-21A3-40AD-BB62-5A09AD5F5E24}" destId="{90FE9A24-2312-4B9C-A856-153FB2B6112A}" srcOrd="0" destOrd="0" presId="urn:microsoft.com/office/officeart/2008/layout/LinedList"/>
    <dgm:cxn modelId="{5C7D15C6-C84B-40C3-9BB7-0A52C2D0F112}" type="presParOf" srcId="{ACF579FE-21A3-40AD-BB62-5A09AD5F5E24}" destId="{934083E1-E968-4B87-85C1-6E69582727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9EDB1-B586-4EB7-9527-B9449FBC9EF0}">
      <dsp:nvSpPr>
        <dsp:cNvPr id="0" name=""/>
        <dsp:cNvSpPr/>
      </dsp:nvSpPr>
      <dsp:spPr>
        <a:xfrm>
          <a:off x="0" y="2689"/>
          <a:ext cx="68833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DBB34-E3B4-4CB6-8D6B-ACDCA6BC48FA}">
      <dsp:nvSpPr>
        <dsp:cNvPr id="0" name=""/>
        <dsp:cNvSpPr/>
      </dsp:nvSpPr>
      <dsp:spPr>
        <a:xfrm>
          <a:off x="0" y="2689"/>
          <a:ext cx="6883352" cy="1834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Fetch</a:t>
          </a:r>
          <a:r>
            <a:rPr lang="es-MX" sz="6500" kern="1200" dirty="0"/>
            <a:t> API (Nativo)</a:t>
          </a:r>
          <a:endParaRPr lang="en-US" sz="6500" kern="1200" dirty="0"/>
        </a:p>
      </dsp:txBody>
      <dsp:txXfrm>
        <a:off x="0" y="2689"/>
        <a:ext cx="6883352" cy="1834511"/>
      </dsp:txXfrm>
    </dsp:sp>
    <dsp:sp modelId="{D8D774A6-E417-4F7D-8879-3237B0A0F190}">
      <dsp:nvSpPr>
        <dsp:cNvPr id="0" name=""/>
        <dsp:cNvSpPr/>
      </dsp:nvSpPr>
      <dsp:spPr>
        <a:xfrm>
          <a:off x="0" y="1837201"/>
          <a:ext cx="6883352" cy="0"/>
        </a:xfrm>
        <a:prstGeom prst="line">
          <a:avLst/>
        </a:prstGeom>
        <a:solidFill>
          <a:schemeClr val="accent2">
            <a:hueOff val="5817888"/>
            <a:satOff val="-34771"/>
            <a:lumOff val="-6961"/>
            <a:alphaOff val="0"/>
          </a:schemeClr>
        </a:solidFill>
        <a:ln w="12700" cap="flat" cmpd="sng" algn="ctr">
          <a:solidFill>
            <a:schemeClr val="accent2">
              <a:hueOff val="5817888"/>
              <a:satOff val="-34771"/>
              <a:lumOff val="-6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2FB90-3975-4445-A273-BC63C5E1E1B9}">
      <dsp:nvSpPr>
        <dsp:cNvPr id="0" name=""/>
        <dsp:cNvSpPr/>
      </dsp:nvSpPr>
      <dsp:spPr>
        <a:xfrm>
          <a:off x="0" y="1837201"/>
          <a:ext cx="6883352" cy="1834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/>
            <a:t>Axios (Librería)</a:t>
          </a:r>
          <a:endParaRPr lang="en-US" sz="6500" kern="1200" dirty="0"/>
        </a:p>
      </dsp:txBody>
      <dsp:txXfrm>
        <a:off x="0" y="1837201"/>
        <a:ext cx="6883352" cy="1834511"/>
      </dsp:txXfrm>
    </dsp:sp>
    <dsp:sp modelId="{D5009E10-DE91-4322-ADBF-B80A5DE814B5}">
      <dsp:nvSpPr>
        <dsp:cNvPr id="0" name=""/>
        <dsp:cNvSpPr/>
      </dsp:nvSpPr>
      <dsp:spPr>
        <a:xfrm>
          <a:off x="0" y="3671713"/>
          <a:ext cx="6883352" cy="0"/>
        </a:xfrm>
        <a:prstGeom prst="line">
          <a:avLst/>
        </a:prstGeom>
        <a:solidFill>
          <a:schemeClr val="accent2">
            <a:hueOff val="11635776"/>
            <a:satOff val="-69541"/>
            <a:lumOff val="-13922"/>
            <a:alphaOff val="0"/>
          </a:schemeClr>
        </a:solidFill>
        <a:ln w="12700" cap="flat" cmpd="sng" algn="ctr">
          <a:solidFill>
            <a:schemeClr val="accent2">
              <a:hueOff val="11635776"/>
              <a:satOff val="-69541"/>
              <a:lumOff val="-1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E9A24-2312-4B9C-A856-153FB2B6112A}">
      <dsp:nvSpPr>
        <dsp:cNvPr id="0" name=""/>
        <dsp:cNvSpPr/>
      </dsp:nvSpPr>
      <dsp:spPr>
        <a:xfrm>
          <a:off x="0" y="3671713"/>
          <a:ext cx="6883352" cy="1834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/>
            <a:t>Async / Await</a:t>
          </a:r>
          <a:endParaRPr lang="en-US" sz="6500" kern="1200"/>
        </a:p>
      </dsp:txBody>
      <dsp:txXfrm>
        <a:off x="0" y="3671713"/>
        <a:ext cx="6883352" cy="1834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8AAF1-F1C6-4BF7-8C31-19CAFE32626C}" type="datetimeFigureOut">
              <a:rPr lang="es-MX" smtClean="0"/>
              <a:t>08/02/2026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69E1D-2A30-4BB5-8663-9183FBB5B5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747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9E1D-2A30-4BB5-8663-9183FBB5B5BE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6856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8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6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0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1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6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5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2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9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3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78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noProof="0" dirty="0">
              <a:solidFill>
                <a:schemeClr val="tx1"/>
              </a:solidFill>
            </a:endParaRPr>
          </a:p>
        </p:txBody>
      </p:sp>
      <p:sp>
        <p:nvSpPr>
          <p:cNvPr id="73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noProof="0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MX" noProof="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s-MX" noProof="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s-MX" noProof="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s-MX" noProof="0" dirty="0"/>
            </a:p>
          </p:txBody>
        </p:sp>
        <p:sp>
          <p:nvSpPr>
            <p:cNvPr id="80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s-MX" noProof="0" dirty="0"/>
            </a:p>
          </p:txBody>
        </p:sp>
      </p:grpSp>
      <p:sp>
        <p:nvSpPr>
          <p:cNvPr id="8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noProof="0" dirty="0"/>
          </a:p>
        </p:txBody>
      </p:sp>
      <p:sp useBgFill="1">
        <p:nvSpPr>
          <p:cNvPr id="84" name="Background Fill">
            <a:extLst>
              <a:ext uri="{FF2B5EF4-FFF2-40B4-BE49-F238E27FC236}">
                <a16:creationId xmlns:a16="http://schemas.microsoft.com/office/drawing/2014/main" id="{AAE554D5-83C9-4012-89E6-3D8418FB3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noProof="0" dirty="0">
              <a:solidFill>
                <a:schemeClr val="tx1"/>
              </a:solidFill>
            </a:endParaRPr>
          </a:p>
        </p:txBody>
      </p:sp>
      <p:sp>
        <p:nvSpPr>
          <p:cNvPr id="86" name="Color Fill">
            <a:extLst>
              <a:ext uri="{FF2B5EF4-FFF2-40B4-BE49-F238E27FC236}">
                <a16:creationId xmlns:a16="http://schemas.microsoft.com/office/drawing/2014/main" id="{EAE66E1B-8C32-4609-9C85-626BDE46D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noProof="0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55B460E-E84B-4B05-8B9A-D6152DE2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078029" y="0"/>
            <a:ext cx="2948860" cy="6858000"/>
            <a:chOff x="9078029" y="0"/>
            <a:chExt cx="2948860" cy="6858000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A879EEA-C63B-44A5-9F3C-C15E55B7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96665" y="199915"/>
              <a:ext cx="491650" cy="491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noProof="0" dirty="0"/>
            </a:p>
          </p:txBody>
        </p:sp>
        <p:sp>
          <p:nvSpPr>
            <p:cNvPr id="90" name="Graphic 9">
              <a:extLst>
                <a:ext uri="{FF2B5EF4-FFF2-40B4-BE49-F238E27FC236}">
                  <a16:creationId xmlns:a16="http://schemas.microsoft.com/office/drawing/2014/main" id="{CD423698-CB5C-485F-B988-31A776EFC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086126" y="3917237"/>
              <a:ext cx="2932666" cy="294885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noProof="0" dirty="0"/>
            </a:p>
          </p:txBody>
        </p:sp>
        <p:sp>
          <p:nvSpPr>
            <p:cNvPr id="91" name="Graphic 9">
              <a:extLst>
                <a:ext uri="{FF2B5EF4-FFF2-40B4-BE49-F238E27FC236}">
                  <a16:creationId xmlns:a16="http://schemas.microsoft.com/office/drawing/2014/main" id="{9FFC7F5B-58D9-4B22-8D05-77BA448A5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078030" y="891480"/>
              <a:ext cx="2948859" cy="2948858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75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noProof="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C04DFD9-4663-4C60-9004-B8730640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63633" y="3793556"/>
              <a:ext cx="355343" cy="35534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noProof="0" dirty="0">
                <a:solidFill>
                  <a:schemeClr val="tx1"/>
                </a:solidFill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8ED6A81C-ABB1-4EC0-BFAF-B8F94F5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078659" y="0"/>
              <a:ext cx="2779229" cy="817919"/>
            </a:xfrm>
            <a:custGeom>
              <a:avLst/>
              <a:gdLst>
                <a:gd name="connsiteX0" fmla="*/ 0 w 2779229"/>
                <a:gd name="connsiteY0" fmla="*/ 0 h 817919"/>
                <a:gd name="connsiteX1" fmla="*/ 2779229 w 2779229"/>
                <a:gd name="connsiteY1" fmla="*/ 0 h 817919"/>
                <a:gd name="connsiteX2" fmla="*/ 2755430 w 2779229"/>
                <a:gd name="connsiteY2" fmla="*/ 49404 h 817919"/>
                <a:gd name="connsiteX3" fmla="*/ 1464180 w 2779229"/>
                <a:gd name="connsiteY3" fmla="*/ 817919 h 817919"/>
                <a:gd name="connsiteX4" fmla="*/ 0 w 2779229"/>
                <a:gd name="connsiteY4" fmla="*/ 817919 h 81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9229" h="817919">
                  <a:moveTo>
                    <a:pt x="0" y="0"/>
                  </a:moveTo>
                  <a:lnTo>
                    <a:pt x="2779229" y="0"/>
                  </a:lnTo>
                  <a:lnTo>
                    <a:pt x="2755430" y="49404"/>
                  </a:lnTo>
                  <a:cubicBezTo>
                    <a:pt x="2506760" y="507168"/>
                    <a:pt x="2021765" y="817919"/>
                    <a:pt x="1464180" y="817919"/>
                  </a:cubicBezTo>
                  <a:lnTo>
                    <a:pt x="0" y="81791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noProof="0" dirty="0"/>
            </a:p>
          </p:txBody>
        </p:sp>
      </p:grpSp>
      <p:sp>
        <p:nvSpPr>
          <p:cNvPr id="95" name="Texture">
            <a:extLst>
              <a:ext uri="{FF2B5EF4-FFF2-40B4-BE49-F238E27FC236}">
                <a16:creationId xmlns:a16="http://schemas.microsoft.com/office/drawing/2014/main" id="{30210345-0D86-43D9-BC83-7AEC63DAD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9C4B1A-536C-F5A0-EA2C-A6445CC5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1824"/>
            <a:ext cx="7362085" cy="27571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 sz="5400" noProof="0" dirty="0"/>
              <a:t>Jquery.js y alternativas a peticiones asíncronas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03D03D-04C3-FC7E-557D-FF511822E386}"/>
              </a:ext>
            </a:extLst>
          </p:cNvPr>
          <p:cNvSpPr txBox="1"/>
          <p:nvPr/>
        </p:nvSpPr>
        <p:spPr>
          <a:xfrm flipH="1">
            <a:off x="457199" y="3731492"/>
            <a:ext cx="467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noProof="0" dirty="0"/>
              <a:t>Jonathan Aldair Zapata Ponciano</a:t>
            </a:r>
          </a:p>
        </p:txBody>
      </p:sp>
    </p:spTree>
    <p:extLst>
      <p:ext uri="{BB962C8B-B14F-4D97-AF65-F5344CB8AC3E}">
        <p14:creationId xmlns:p14="http://schemas.microsoft.com/office/powerpoint/2010/main" val="333544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58356-85A6-0AA2-162D-8C6232E4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¿Que 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ADBB83-DBD5-5049-77B9-5730924F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6713"/>
            <a:ext cx="8686800" cy="4080250"/>
          </a:xfrm>
        </p:spPr>
        <p:txBody>
          <a:bodyPr/>
          <a:lstStyle/>
          <a:p>
            <a:pPr marL="0" indent="0">
              <a:buNone/>
            </a:pPr>
            <a:r>
              <a:rPr lang="es-MX" noProof="0" dirty="0">
                <a:latin typeface="Abadi" panose="020B0604020104020204" pitchFamily="34" charset="0"/>
              </a:rPr>
              <a:t>jQuery es una biblioteca de JavaScript rápida y pequeña diseñada para simplificar el manejo del DOM, eventos, animaciones y AJAX.</a:t>
            </a:r>
            <a:br>
              <a:rPr lang="es-MX" noProof="0" dirty="0">
                <a:latin typeface="Abadi" panose="020B0604020104020204" pitchFamily="34" charset="0"/>
              </a:rPr>
            </a:br>
            <a:endParaRPr lang="es-MX" noProof="0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s-MX" b="1" dirty="0">
                <a:latin typeface="Abadi" panose="020B0604020104020204" pitchFamily="34" charset="0"/>
              </a:rPr>
              <a:t>Características del Entorno:</a:t>
            </a:r>
            <a:endParaRPr lang="es-MX" dirty="0">
              <a:latin typeface="Abadi" panose="020B0604020104020204" pitchFamily="34" charset="0"/>
            </a:endParaRPr>
          </a:p>
          <a:p>
            <a:r>
              <a:rPr lang="es-MX" dirty="0" err="1">
                <a:latin typeface="Abadi" panose="020B0604020104020204" pitchFamily="34" charset="0"/>
              </a:rPr>
              <a:t>Wapper</a:t>
            </a:r>
            <a:r>
              <a:rPr lang="es-MX" b="1" dirty="0">
                <a:latin typeface="Abadi" panose="020B0604020104020204" pitchFamily="34" charset="0"/>
              </a:rPr>
              <a:t> $():</a:t>
            </a:r>
            <a:r>
              <a:rPr lang="es-MX" dirty="0">
                <a:latin typeface="Abadi" panose="020B0604020104020204" pitchFamily="34" charset="0"/>
              </a:rPr>
              <a:t> Todo gira en torno a la función factoría $. Selecciona elementos del DOM y los "envuelve" en un objeto jQuery con métodos extendidos.</a:t>
            </a:r>
          </a:p>
          <a:p>
            <a:r>
              <a:rPr lang="es-MX" dirty="0">
                <a:latin typeface="Abadi" panose="020B0604020104020204" pitchFamily="34" charset="0"/>
              </a:rPr>
              <a:t>Compatibilidad Cross-Browser</a:t>
            </a:r>
            <a:r>
              <a:rPr lang="es-MX" b="1" dirty="0">
                <a:latin typeface="Abadi" panose="020B0604020104020204" pitchFamily="34" charset="0"/>
              </a:rPr>
              <a:t>:</a:t>
            </a:r>
            <a:r>
              <a:rPr lang="es-MX" dirty="0">
                <a:latin typeface="Abadi" panose="020B0604020104020204" pitchFamily="34" charset="0"/>
              </a:rPr>
              <a:t> Su mayor fortaleza histórica; abstrae las diferencias entre navegadores (aunque hoy es menos crítico gracias a la estandarización).</a:t>
            </a:r>
          </a:p>
          <a:p>
            <a:r>
              <a:rPr lang="es-MX" dirty="0">
                <a:latin typeface="Abadi" panose="020B0604020104020204" pitchFamily="34" charset="0"/>
              </a:rPr>
              <a:t>Encadenamiento</a:t>
            </a:r>
            <a:r>
              <a:rPr lang="es-MX" b="1" dirty="0">
                <a:latin typeface="Abadi" panose="020B0604020104020204" pitchFamily="34" charset="0"/>
              </a:rPr>
              <a:t> </a:t>
            </a:r>
            <a:r>
              <a:rPr lang="es-MX" dirty="0">
                <a:latin typeface="Abadi" panose="020B0604020104020204" pitchFamily="34" charset="0"/>
              </a:rPr>
              <a:t>(</a:t>
            </a:r>
            <a:r>
              <a:rPr lang="es-MX" dirty="0" err="1">
                <a:latin typeface="Abadi" panose="020B0604020104020204" pitchFamily="34" charset="0"/>
              </a:rPr>
              <a:t>Chaining</a:t>
            </a:r>
            <a:r>
              <a:rPr lang="es-MX" dirty="0">
                <a:latin typeface="Abadi" panose="020B0604020104020204" pitchFamily="34" charset="0"/>
              </a:rPr>
              <a:t>)</a:t>
            </a:r>
            <a:r>
              <a:rPr lang="es-MX" b="1" dirty="0">
                <a:latin typeface="Abadi" panose="020B0604020104020204" pitchFamily="34" charset="0"/>
              </a:rPr>
              <a:t>:</a:t>
            </a:r>
            <a:r>
              <a:rPr lang="es-MX" dirty="0">
                <a:latin typeface="Abadi" panose="020B0604020104020204" pitchFamily="34" charset="0"/>
              </a:rPr>
              <a:t> Permite ejecutar múltiples métodos en una misma selección de código.</a:t>
            </a:r>
          </a:p>
          <a:p>
            <a:pPr marL="0" indent="0">
              <a:buNone/>
            </a:pP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41962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B67B2C2-BF1A-16B8-FB6E-C4A013DABEDF}"/>
              </a:ext>
            </a:extLst>
          </p:cNvPr>
          <p:cNvSpPr txBox="1"/>
          <p:nvPr/>
        </p:nvSpPr>
        <p:spPr>
          <a:xfrm>
            <a:off x="3662852" y="2771367"/>
            <a:ext cx="4866295" cy="1477328"/>
          </a:xfrm>
          <a:prstGeom prst="rect">
            <a:avLst/>
          </a:prstGeom>
          <a:solidFill>
            <a:schemeClr val="tx2">
              <a:lumMod val="25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tx1">
                    <a:lumMod val="75000"/>
                  </a:schemeClr>
                </a:solidFill>
              </a:rPr>
              <a:t>// Espera a que el DOM esté listo</a:t>
            </a:r>
          </a:p>
          <a:p>
            <a:r>
              <a:rPr lang="es-MX" dirty="0"/>
              <a:t>$(</a:t>
            </a:r>
            <a:r>
              <a:rPr lang="es-MX" dirty="0" err="1">
                <a:solidFill>
                  <a:srgbClr val="9BE5FF"/>
                </a:solidFill>
              </a:rPr>
              <a:t>document</a:t>
            </a:r>
            <a:r>
              <a:rPr lang="es-MX" dirty="0"/>
              <a:t>).</a:t>
            </a:r>
            <a:r>
              <a:rPr lang="es-MX" dirty="0" err="1"/>
              <a:t>ready</a:t>
            </a:r>
            <a:r>
              <a:rPr lang="es-MX" dirty="0"/>
              <a:t>(</a:t>
            </a:r>
            <a:r>
              <a:rPr lang="es-MX" dirty="0" err="1">
                <a:solidFill>
                  <a:srgbClr val="C59EE2"/>
                </a:solidFill>
              </a:rPr>
              <a:t>function</a:t>
            </a:r>
            <a:r>
              <a:rPr lang="es-MX" dirty="0"/>
              <a:t>() {</a:t>
            </a:r>
          </a:p>
          <a:p>
            <a:r>
              <a:rPr lang="es-MX" dirty="0">
                <a:solidFill>
                  <a:schemeClr val="tx1">
                    <a:lumMod val="75000"/>
                  </a:schemeClr>
                </a:solidFill>
              </a:rPr>
              <a:t>    // Selecciona todos los párrafos y ocúltalos</a:t>
            </a:r>
          </a:p>
          <a:p>
            <a:r>
              <a:rPr lang="es-MX" dirty="0"/>
              <a:t>    $(</a:t>
            </a:r>
            <a:r>
              <a:rPr lang="es-MX" dirty="0">
                <a:solidFill>
                  <a:srgbClr val="92D050"/>
                </a:solidFill>
              </a:rPr>
              <a:t>"p"</a:t>
            </a:r>
            <a:r>
              <a:rPr lang="es-MX" dirty="0"/>
              <a:t>).</a:t>
            </a:r>
            <a:r>
              <a:rPr lang="es-MX" dirty="0" err="1"/>
              <a:t>hide</a:t>
            </a:r>
            <a:r>
              <a:rPr lang="es-MX" dirty="0"/>
              <a:t>(); </a:t>
            </a:r>
          </a:p>
          <a:p>
            <a:r>
              <a:rPr lang="es-MX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88266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BA44E6CA-03F3-47EA-A9F3-5C0674E2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09097D-8483-4B7B-BEC5-0B86BF59F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744625" y="685620"/>
            <a:ext cx="5444327" cy="6049020"/>
            <a:chOff x="6744625" y="685620"/>
            <a:chExt cx="5444327" cy="6049020"/>
          </a:xfrm>
        </p:grpSpPr>
        <p:sp>
          <p:nvSpPr>
            <p:cNvPr id="15" name="Graphic 9">
              <a:extLst>
                <a:ext uri="{FF2B5EF4-FFF2-40B4-BE49-F238E27FC236}">
                  <a16:creationId xmlns:a16="http://schemas.microsoft.com/office/drawing/2014/main" id="{82247417-063B-41E1-85DB-F4ACD500D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744625" y="967196"/>
              <a:ext cx="2116766" cy="211676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Graphic 18">
              <a:extLst>
                <a:ext uri="{FF2B5EF4-FFF2-40B4-BE49-F238E27FC236}">
                  <a16:creationId xmlns:a16="http://schemas.microsoft.com/office/drawing/2014/main" id="{AEB16D2D-9E77-46B5-8954-6DA4C953F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9618226" y="3599573"/>
              <a:ext cx="2057060" cy="3135067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97DABC3-02D1-4C59-AAD0-FD58A761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6262" y="685620"/>
              <a:ext cx="265579" cy="265579"/>
            </a:xfrm>
            <a:prstGeom prst="ellipse">
              <a:avLst/>
            </a:pr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A10787-EADF-482A-B968-6E8E308F5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60221" y="1219177"/>
              <a:ext cx="528731" cy="1057462"/>
            </a:xfrm>
            <a:custGeom>
              <a:avLst/>
              <a:gdLst>
                <a:gd name="connsiteX0" fmla="*/ 528731 w 528731"/>
                <a:gd name="connsiteY0" fmla="*/ 0 h 1057462"/>
                <a:gd name="connsiteX1" fmla="*/ 528731 w 528731"/>
                <a:gd name="connsiteY1" fmla="*/ 1057462 h 1057462"/>
                <a:gd name="connsiteX2" fmla="*/ 0 w 528731"/>
                <a:gd name="connsiteY2" fmla="*/ 528731 h 1057462"/>
                <a:gd name="connsiteX3" fmla="*/ 528731 w 528731"/>
                <a:gd name="connsiteY3" fmla="*/ 0 h 105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731" h="1057462">
                  <a:moveTo>
                    <a:pt x="528731" y="0"/>
                  </a:moveTo>
                  <a:lnTo>
                    <a:pt x="528731" y="1057462"/>
                  </a:lnTo>
                  <a:cubicBezTo>
                    <a:pt x="236721" y="1057462"/>
                    <a:pt x="0" y="820741"/>
                    <a:pt x="0" y="528731"/>
                  </a:cubicBezTo>
                  <a:cubicBezTo>
                    <a:pt x="0" y="236721"/>
                    <a:pt x="236721" y="0"/>
                    <a:pt x="528731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301FCBE-C05E-491E-A4E2-85C29D705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64894" y="1100025"/>
              <a:ext cx="4790779" cy="4790779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7F7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205363-D639-F967-6658-19D1F460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8952"/>
            <a:ext cx="5351843" cy="1325563"/>
          </a:xfrm>
        </p:spPr>
        <p:txBody>
          <a:bodyPr anchor="b">
            <a:normAutofit/>
          </a:bodyPr>
          <a:lstStyle/>
          <a:p>
            <a:r>
              <a:rPr lang="es-MX" sz="4100"/>
              <a:t>Estrategia de Peticiones Asíncronas (AJAX)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AA01EE-3BD9-F5EC-E90F-5248DBE0C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5351843" cy="3893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jQuery facilita </a:t>
            </a:r>
            <a:r>
              <a:rPr lang="es-MX" b="1" dirty="0"/>
              <a:t>AJAX</a:t>
            </a:r>
            <a:r>
              <a:rPr lang="es-MX" dirty="0"/>
              <a:t> (</a:t>
            </a:r>
            <a:r>
              <a:rPr lang="es-MX" b="1" dirty="0" err="1"/>
              <a:t>A</a:t>
            </a:r>
            <a:r>
              <a:rPr lang="es-MX" dirty="0" err="1"/>
              <a:t>synchronous</a:t>
            </a:r>
            <a:r>
              <a:rPr lang="es-MX" dirty="0"/>
              <a:t> </a:t>
            </a:r>
            <a:r>
              <a:rPr lang="es-MX" b="1" dirty="0"/>
              <a:t>J</a:t>
            </a:r>
            <a:r>
              <a:rPr lang="es-MX" dirty="0"/>
              <a:t>ava</a:t>
            </a:r>
            <a:r>
              <a:rPr lang="es-MX" b="1" dirty="0"/>
              <a:t>S</a:t>
            </a:r>
            <a:r>
              <a:rPr lang="es-MX" dirty="0"/>
              <a:t>cript </a:t>
            </a:r>
            <a:r>
              <a:rPr lang="es-MX" b="1" dirty="0"/>
              <a:t>a</a:t>
            </a:r>
            <a:r>
              <a:rPr lang="es-MX" dirty="0"/>
              <a:t>nd </a:t>
            </a:r>
            <a:r>
              <a:rPr lang="es-MX" b="1" dirty="0"/>
              <a:t>X</a:t>
            </a:r>
            <a:r>
              <a:rPr lang="es-MX" dirty="0"/>
              <a:t>ML), permitiendo actualizar partes de una web sin recargar la página completa.</a:t>
            </a:r>
          </a:p>
          <a:p>
            <a:pPr marL="0" indent="0">
              <a:buNone/>
            </a:pPr>
            <a:r>
              <a:rPr lang="es-MX" dirty="0"/>
              <a:t>Métodos Principales:</a:t>
            </a:r>
          </a:p>
          <a:p>
            <a:r>
              <a:rPr lang="es-MX" dirty="0"/>
              <a:t>$.</a:t>
            </a:r>
            <a:r>
              <a:rPr lang="es-MX" dirty="0" err="1"/>
              <a:t>ajax</a:t>
            </a:r>
            <a:r>
              <a:rPr lang="es-MX" dirty="0"/>
              <a:t>(): El método base, totalmente configurable.</a:t>
            </a:r>
          </a:p>
          <a:p>
            <a:r>
              <a:rPr lang="es-MX" dirty="0"/>
              <a:t>$.</a:t>
            </a:r>
            <a:r>
              <a:rPr lang="es-MX" dirty="0" err="1"/>
              <a:t>get</a:t>
            </a:r>
            <a:r>
              <a:rPr lang="es-MX" dirty="0"/>
              <a:t>() / $.post(): Atajos para operaciones comunes.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" name="Graphic 6" descr="Browser Window">
            <a:extLst>
              <a:ext uri="{FF2B5EF4-FFF2-40B4-BE49-F238E27FC236}">
                <a16:creationId xmlns:a16="http://schemas.microsoft.com/office/drawing/2014/main" id="{6407A957-25B8-0551-B732-BA4A3FC9E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3008" y="1886747"/>
            <a:ext cx="3217333" cy="321733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6306C7D-99EC-8FE3-0F67-D55DB0BD9749}"/>
              </a:ext>
            </a:extLst>
          </p:cNvPr>
          <p:cNvSpPr txBox="1"/>
          <p:nvPr/>
        </p:nvSpPr>
        <p:spPr>
          <a:xfrm>
            <a:off x="6382959" y="1831659"/>
            <a:ext cx="5804898" cy="3139321"/>
          </a:xfrm>
          <a:prstGeom prst="rect">
            <a:avLst/>
          </a:prstGeom>
          <a:solidFill>
            <a:schemeClr val="tx2">
              <a:lumMod val="25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es-MX" dirty="0"/>
              <a:t>$.</a:t>
            </a:r>
            <a:r>
              <a:rPr lang="es-MX" dirty="0" err="1"/>
              <a:t>ajax</a:t>
            </a:r>
            <a:r>
              <a:rPr lang="es-MX" dirty="0"/>
              <a:t>({ </a:t>
            </a:r>
            <a:br>
              <a:rPr lang="es-MX" dirty="0"/>
            </a:br>
            <a:r>
              <a:rPr lang="es-MX" dirty="0"/>
              <a:t>	</a:t>
            </a:r>
            <a:r>
              <a:rPr lang="es-MX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url</a:t>
            </a:r>
            <a:r>
              <a:rPr lang="es-MX" dirty="0"/>
              <a:t>: </a:t>
            </a:r>
            <a:r>
              <a:rPr lang="es-MX" dirty="0">
                <a:solidFill>
                  <a:srgbClr val="92D050"/>
                </a:solidFill>
              </a:rPr>
              <a:t>"https://api.ejemplo.com/datos"</a:t>
            </a:r>
            <a:r>
              <a:rPr lang="es-MX" dirty="0"/>
              <a:t>, 	</a:t>
            </a:r>
          </a:p>
          <a:p>
            <a:r>
              <a:rPr lang="es-MX" dirty="0"/>
              <a:t>	</a:t>
            </a:r>
            <a:r>
              <a:rPr lang="es-MX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method</a:t>
            </a:r>
            <a:r>
              <a:rPr lang="es-MX" dirty="0"/>
              <a:t>: </a:t>
            </a:r>
            <a:r>
              <a:rPr lang="es-MX" dirty="0">
                <a:solidFill>
                  <a:srgbClr val="92D050"/>
                </a:solidFill>
              </a:rPr>
              <a:t>"GET"</a:t>
            </a:r>
            <a:r>
              <a:rPr lang="es-MX" dirty="0"/>
              <a:t>, </a:t>
            </a:r>
          </a:p>
          <a:p>
            <a:r>
              <a:rPr lang="es-MX" dirty="0"/>
              <a:t>	</a:t>
            </a:r>
            <a:r>
              <a:rPr lang="es-MX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dataType</a:t>
            </a:r>
            <a:r>
              <a:rPr lang="es-MX" dirty="0"/>
              <a:t>: </a:t>
            </a:r>
            <a:r>
              <a:rPr lang="es-MX" dirty="0">
                <a:solidFill>
                  <a:srgbClr val="92D050"/>
                </a:solidFill>
              </a:rPr>
              <a:t>"</a:t>
            </a:r>
            <a:r>
              <a:rPr lang="es-MX" dirty="0" err="1">
                <a:solidFill>
                  <a:srgbClr val="92D050"/>
                </a:solidFill>
              </a:rPr>
              <a:t>json</a:t>
            </a:r>
            <a:r>
              <a:rPr lang="es-MX" dirty="0">
                <a:solidFill>
                  <a:srgbClr val="92D050"/>
                </a:solidFill>
              </a:rPr>
              <a:t>" </a:t>
            </a:r>
            <a:r>
              <a:rPr lang="es-MX" dirty="0">
                <a:solidFill>
                  <a:schemeClr val="tx1">
                    <a:lumMod val="75000"/>
                  </a:schemeClr>
                </a:solidFill>
              </a:rPr>
              <a:t>// Espera JSON automáticamente </a:t>
            </a:r>
          </a:p>
          <a:p>
            <a:r>
              <a:rPr lang="es-MX" dirty="0"/>
              <a:t>}) .done(</a:t>
            </a:r>
            <a:r>
              <a:rPr lang="es-MX" dirty="0" err="1">
                <a:solidFill>
                  <a:srgbClr val="C59EE2"/>
                </a:solidFill>
              </a:rPr>
              <a:t>function</a:t>
            </a:r>
            <a:r>
              <a:rPr lang="es-MX" dirty="0"/>
              <a:t>(data) { </a:t>
            </a:r>
          </a:p>
          <a:p>
            <a:r>
              <a:rPr lang="es-MX" dirty="0"/>
              <a:t>	</a:t>
            </a:r>
            <a:r>
              <a:rPr lang="es-MX" dirty="0">
                <a:solidFill>
                  <a:srgbClr val="9BE5FF"/>
                </a:solidFill>
              </a:rPr>
              <a:t>console</a:t>
            </a:r>
            <a:r>
              <a:rPr lang="es-MX" dirty="0"/>
              <a:t>.log(</a:t>
            </a:r>
            <a:r>
              <a:rPr lang="es-MX" dirty="0">
                <a:solidFill>
                  <a:srgbClr val="92D050"/>
                </a:solidFill>
              </a:rPr>
              <a:t>"Éxito:"</a:t>
            </a:r>
            <a:r>
              <a:rPr lang="es-MX" dirty="0"/>
              <a:t>, data); </a:t>
            </a:r>
          </a:p>
          <a:p>
            <a:r>
              <a:rPr lang="es-MX" dirty="0"/>
              <a:t>}) .</a:t>
            </a:r>
            <a:r>
              <a:rPr lang="es-MX" dirty="0" err="1"/>
              <a:t>fail</a:t>
            </a:r>
            <a:r>
              <a:rPr lang="es-MX" dirty="0"/>
              <a:t>(</a:t>
            </a:r>
            <a:r>
              <a:rPr lang="es-MX" dirty="0" err="1">
                <a:solidFill>
                  <a:srgbClr val="C59EE2"/>
                </a:solidFill>
              </a:rPr>
              <a:t>function</a:t>
            </a:r>
            <a:r>
              <a:rPr lang="es-MX" dirty="0"/>
              <a:t>(</a:t>
            </a:r>
            <a:r>
              <a:rPr lang="es-MX" dirty="0" err="1"/>
              <a:t>jqXHR</a:t>
            </a:r>
            <a:r>
              <a:rPr lang="es-MX" dirty="0"/>
              <a:t>, </a:t>
            </a:r>
            <a:r>
              <a:rPr lang="es-MX" dirty="0" err="1"/>
              <a:t>textStatus</a:t>
            </a:r>
            <a:r>
              <a:rPr lang="es-MX" dirty="0"/>
              <a:t>) { </a:t>
            </a:r>
          </a:p>
          <a:p>
            <a:r>
              <a:rPr lang="es-MX" dirty="0"/>
              <a:t>	</a:t>
            </a:r>
            <a:r>
              <a:rPr lang="es-MX" dirty="0" err="1">
                <a:solidFill>
                  <a:srgbClr val="9BE5FF"/>
                </a:solidFill>
              </a:rPr>
              <a:t>console</a:t>
            </a:r>
            <a:r>
              <a:rPr lang="es-MX" dirty="0" err="1"/>
              <a:t>.error</a:t>
            </a:r>
            <a:r>
              <a:rPr lang="es-MX" dirty="0"/>
              <a:t>(</a:t>
            </a:r>
            <a:r>
              <a:rPr lang="es-MX" dirty="0">
                <a:solidFill>
                  <a:srgbClr val="92D050"/>
                </a:solidFill>
              </a:rPr>
              <a:t>"Error:"</a:t>
            </a:r>
            <a:r>
              <a:rPr lang="es-MX" dirty="0"/>
              <a:t>, </a:t>
            </a:r>
            <a:r>
              <a:rPr lang="es-MX" dirty="0" err="1"/>
              <a:t>textStatus</a:t>
            </a:r>
            <a:r>
              <a:rPr lang="es-MX" dirty="0"/>
              <a:t>); </a:t>
            </a:r>
          </a:p>
          <a:p>
            <a:r>
              <a:rPr lang="es-MX" dirty="0"/>
              <a:t>}) .</a:t>
            </a:r>
            <a:r>
              <a:rPr lang="es-MX" dirty="0" err="1"/>
              <a:t>always</a:t>
            </a:r>
            <a:r>
              <a:rPr lang="es-MX" dirty="0"/>
              <a:t>(</a:t>
            </a:r>
            <a:r>
              <a:rPr lang="es-MX" dirty="0" err="1">
                <a:solidFill>
                  <a:srgbClr val="C59EE2"/>
                </a:solidFill>
              </a:rPr>
              <a:t>function</a:t>
            </a:r>
            <a:r>
              <a:rPr lang="es-MX" dirty="0"/>
              <a:t>() { </a:t>
            </a:r>
          </a:p>
          <a:p>
            <a:r>
              <a:rPr lang="es-MX" dirty="0"/>
              <a:t>	</a:t>
            </a:r>
            <a:r>
              <a:rPr lang="es-MX" dirty="0">
                <a:solidFill>
                  <a:srgbClr val="9BE5FF"/>
                </a:solidFill>
              </a:rPr>
              <a:t>console</a:t>
            </a:r>
            <a:r>
              <a:rPr lang="es-MX" dirty="0"/>
              <a:t>.log(</a:t>
            </a:r>
            <a:r>
              <a:rPr lang="es-MX" dirty="0">
                <a:solidFill>
                  <a:srgbClr val="92D050"/>
                </a:solidFill>
              </a:rPr>
              <a:t>"Petición finalizada (éxito o error)."</a:t>
            </a:r>
            <a:r>
              <a:rPr lang="es-MX" dirty="0"/>
              <a:t>); </a:t>
            </a:r>
          </a:p>
          <a:p>
            <a:r>
              <a:rPr lang="es-MX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7130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Background Fill">
            <a:extLst>
              <a:ext uri="{FF2B5EF4-FFF2-40B4-BE49-F238E27FC236}">
                <a16:creationId xmlns:a16="http://schemas.microsoft.com/office/drawing/2014/main" id="{471A3572-4543-4883-A749-0458CD870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Color Fill">
            <a:extLst>
              <a:ext uri="{FF2B5EF4-FFF2-40B4-BE49-F238E27FC236}">
                <a16:creationId xmlns:a16="http://schemas.microsoft.com/office/drawing/2014/main" id="{4036AB30-180B-4ED5-A38B-17570541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Background Leaf">
            <a:extLst>
              <a:ext uri="{FF2B5EF4-FFF2-40B4-BE49-F238E27FC236}">
                <a16:creationId xmlns:a16="http://schemas.microsoft.com/office/drawing/2014/main" id="{E00BDB36-26F9-4870-887D-DBEBE42AD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04504" y="-5716"/>
            <a:ext cx="8284448" cy="6858000"/>
          </a:xfrm>
          <a:custGeom>
            <a:avLst/>
            <a:gdLst>
              <a:gd name="connsiteX0" fmla="*/ 0 w 8284448"/>
              <a:gd name="connsiteY0" fmla="*/ 0 h 6858000"/>
              <a:gd name="connsiteX1" fmla="*/ 5949669 w 8284448"/>
              <a:gd name="connsiteY1" fmla="*/ 0 h 6858000"/>
              <a:gd name="connsiteX2" fmla="*/ 6097735 w 8284448"/>
              <a:gd name="connsiteY2" fmla="*/ 77067 h 6858000"/>
              <a:gd name="connsiteX3" fmla="*/ 8284448 w 8284448"/>
              <a:gd name="connsiteY3" fmla="*/ 3810917 h 6858000"/>
              <a:gd name="connsiteX4" fmla="*/ 8284448 w 8284448"/>
              <a:gd name="connsiteY4" fmla="*/ 6858000 h 6858000"/>
              <a:gd name="connsiteX5" fmla="*/ 1225332 w 8284448"/>
              <a:gd name="connsiteY5" fmla="*/ 6858000 h 6858000"/>
              <a:gd name="connsiteX6" fmla="*/ 1163726 w 8284448"/>
              <a:gd name="connsiteY6" fmla="*/ 6801098 h 6858000"/>
              <a:gd name="connsiteX7" fmla="*/ 24800 w 8284448"/>
              <a:gd name="connsiteY7" fmla="*/ 4654257 h 6858000"/>
              <a:gd name="connsiteX8" fmla="*/ 0 w 8284448"/>
              <a:gd name="connsiteY8" fmla="*/ 44891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4448" h="6858000">
                <a:moveTo>
                  <a:pt x="0" y="0"/>
                </a:moveTo>
                <a:lnTo>
                  <a:pt x="5949669" y="0"/>
                </a:lnTo>
                <a:lnTo>
                  <a:pt x="6097735" y="77067"/>
                </a:lnTo>
                <a:cubicBezTo>
                  <a:pt x="7400247" y="796137"/>
                  <a:pt x="8284448" y="2198576"/>
                  <a:pt x="8284448" y="3810917"/>
                </a:cubicBezTo>
                <a:lnTo>
                  <a:pt x="8284448" y="6858000"/>
                </a:lnTo>
                <a:lnTo>
                  <a:pt x="1225332" y="6858000"/>
                </a:lnTo>
                <a:lnTo>
                  <a:pt x="1163726" y="6801098"/>
                </a:lnTo>
                <a:cubicBezTo>
                  <a:pt x="596622" y="6224771"/>
                  <a:pt x="191778" y="5483545"/>
                  <a:pt x="24800" y="4654257"/>
                </a:cubicBezTo>
                <a:lnTo>
                  <a:pt x="0" y="4489113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2" name="Texture">
            <a:extLst>
              <a:ext uri="{FF2B5EF4-FFF2-40B4-BE49-F238E27FC236}">
                <a16:creationId xmlns:a16="http://schemas.microsoft.com/office/drawing/2014/main" id="{DC83D935-436B-4F4D-A47B-4FD95E2C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lIns="0" rIns="0" rtlCol="0" anchor="ctr"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6F5E11-5AD0-402E-22B1-B9943E12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668048"/>
            <a:ext cx="3313075" cy="1257005"/>
          </a:xfrm>
        </p:spPr>
        <p:txBody>
          <a:bodyPr>
            <a:normAutofit fontScale="90000"/>
          </a:bodyPr>
          <a:lstStyle/>
          <a:p>
            <a:r>
              <a:rPr lang="es-MX" dirty="0"/>
              <a:t>Alternativas Modernas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AEDD335-237D-4E14-2B79-184DC8211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7663152"/>
              </p:ext>
            </p:extLst>
          </p:nvPr>
        </p:nvGraphicFramePr>
        <p:xfrm>
          <a:off x="4866688" y="668048"/>
          <a:ext cx="6883352" cy="5508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44B1F44-4421-32C5-26CE-2E9B2C8F8489}"/>
              </a:ext>
            </a:extLst>
          </p:cNvPr>
          <p:cNvSpPr txBox="1"/>
          <p:nvPr/>
        </p:nvSpPr>
        <p:spPr>
          <a:xfrm>
            <a:off x="441960" y="2483318"/>
            <a:ext cx="3459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Hoy en día, no se recomienda incluir jQuery solo para hacer peticiones. Existen estándares nativos y librerías especializadas más eficientes.</a:t>
            </a:r>
          </a:p>
        </p:txBody>
      </p:sp>
    </p:spTree>
    <p:extLst>
      <p:ext uri="{BB962C8B-B14F-4D97-AF65-F5344CB8AC3E}">
        <p14:creationId xmlns:p14="http://schemas.microsoft.com/office/powerpoint/2010/main" val="4232315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02528-B2A1-75DD-7E46-82315B68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Fetch</a:t>
            </a:r>
            <a:r>
              <a:rPr lang="es-MX" dirty="0"/>
              <a:t> API (Nativo)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3A04AB-A647-A110-36C2-160A03C6F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estándar moderno integrado en los navegadores. Basado en Promesas nativas.</a:t>
            </a:r>
          </a:p>
          <a:p>
            <a:pPr marL="0" indent="0">
              <a:buNone/>
            </a:pPr>
            <a:r>
              <a:rPr lang="es-MX" dirty="0"/>
              <a:t>Pros/Contras:</a:t>
            </a:r>
          </a:p>
          <a:p>
            <a:r>
              <a:rPr lang="es-MX" dirty="0"/>
              <a:t>(+) No requiere librerías externas.</a:t>
            </a:r>
          </a:p>
          <a:p>
            <a:r>
              <a:rPr lang="es-MX" dirty="0"/>
              <a:t>(-) Requiere un paso extra para convertir la respuesta a JSON.</a:t>
            </a:r>
          </a:p>
          <a:p>
            <a:r>
              <a:rPr lang="es-MX" dirty="0"/>
              <a:t>(-) No rechaza la promesa en errores HTTP (ej. 404), solo en errores de red.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AFD465-432B-5CBD-BCED-78A7FDF9E3E2}"/>
              </a:ext>
            </a:extLst>
          </p:cNvPr>
          <p:cNvSpPr txBox="1"/>
          <p:nvPr/>
        </p:nvSpPr>
        <p:spPr>
          <a:xfrm>
            <a:off x="1500633" y="4932875"/>
            <a:ext cx="4866295" cy="1477328"/>
          </a:xfrm>
          <a:prstGeom prst="rect">
            <a:avLst/>
          </a:prstGeom>
          <a:solidFill>
            <a:schemeClr val="tx2">
              <a:lumMod val="25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es-MX" dirty="0" err="1"/>
              <a:t>fetch</a:t>
            </a:r>
            <a:r>
              <a:rPr lang="es-MX" dirty="0"/>
              <a:t>(</a:t>
            </a:r>
            <a:r>
              <a:rPr lang="es-MX" dirty="0">
                <a:solidFill>
                  <a:srgbClr val="92D050"/>
                </a:solidFill>
              </a:rPr>
              <a:t>'https://api.ejemplo.com/datos'</a:t>
            </a:r>
            <a:r>
              <a:rPr lang="es-MX" dirty="0"/>
              <a:t>)</a:t>
            </a:r>
          </a:p>
          <a:p>
            <a:r>
              <a:rPr lang="es-MX" dirty="0"/>
              <a:t>  .</a:t>
            </a:r>
            <a:r>
              <a:rPr lang="es-MX" dirty="0" err="1"/>
              <a:t>then</a:t>
            </a:r>
            <a:r>
              <a:rPr lang="es-MX" dirty="0"/>
              <a:t>(response =&gt; </a:t>
            </a:r>
            <a:r>
              <a:rPr lang="es-MX" dirty="0" err="1"/>
              <a:t>response.json</a:t>
            </a:r>
            <a:r>
              <a:rPr lang="es-MX" dirty="0"/>
              <a:t>()) // Paso extra necesario</a:t>
            </a:r>
          </a:p>
          <a:p>
            <a:r>
              <a:rPr lang="es-MX" dirty="0"/>
              <a:t>  .</a:t>
            </a:r>
            <a:r>
              <a:rPr lang="es-MX" dirty="0" err="1"/>
              <a:t>then</a:t>
            </a:r>
            <a:r>
              <a:rPr lang="es-MX" dirty="0"/>
              <a:t>(data =&gt; </a:t>
            </a:r>
            <a:r>
              <a:rPr lang="es-MX" dirty="0">
                <a:solidFill>
                  <a:srgbClr val="9BE5FF"/>
                </a:solidFill>
              </a:rPr>
              <a:t>console</a:t>
            </a:r>
            <a:r>
              <a:rPr lang="es-MX" dirty="0"/>
              <a:t>.log(data))</a:t>
            </a:r>
          </a:p>
          <a:p>
            <a:r>
              <a:rPr lang="es-MX" dirty="0"/>
              <a:t>  .catch(error =&gt; </a:t>
            </a:r>
            <a:r>
              <a:rPr lang="es-MX" dirty="0" err="1">
                <a:solidFill>
                  <a:srgbClr val="9BE5FF"/>
                </a:solidFill>
              </a:rPr>
              <a:t>console</a:t>
            </a:r>
            <a:r>
              <a:rPr lang="es-MX" dirty="0" err="1"/>
              <a:t>.error</a:t>
            </a:r>
            <a:r>
              <a:rPr lang="es-MX" dirty="0"/>
              <a:t>(error));</a:t>
            </a:r>
          </a:p>
        </p:txBody>
      </p:sp>
    </p:spTree>
    <p:extLst>
      <p:ext uri="{BB962C8B-B14F-4D97-AF65-F5344CB8AC3E}">
        <p14:creationId xmlns:p14="http://schemas.microsoft.com/office/powerpoint/2010/main" val="30375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BD929-5E89-E008-A6B0-5F0F20F8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Axios (Librería)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5DA08-3710-37C7-E0CC-730CCBCC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Cliente HTTP basado en promesas que funciona tanto en el navegador como en Node.js.</a:t>
            </a:r>
          </a:p>
          <a:p>
            <a:pPr marL="0" indent="0">
              <a:buNone/>
            </a:pPr>
            <a:r>
              <a:rPr lang="es-MX" dirty="0"/>
              <a:t>Pros/Contras:</a:t>
            </a:r>
          </a:p>
          <a:p>
            <a:r>
              <a:rPr lang="es-MX" dirty="0"/>
              <a:t>(+) Transformación automática de JSON.</a:t>
            </a:r>
          </a:p>
          <a:p>
            <a:r>
              <a:rPr lang="es-MX" dirty="0"/>
              <a:t>(+) Manejo de errores más intuitivo (rechaza promesas en 4xx/5xx).</a:t>
            </a:r>
          </a:p>
          <a:p>
            <a:r>
              <a:rPr lang="es-MX" dirty="0"/>
              <a:t>(+) Interceptores de peticiones/respuestas.</a:t>
            </a:r>
          </a:p>
          <a:p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2D6F1C-CE33-0ECB-EA72-33671FC7BE1F}"/>
              </a:ext>
            </a:extLst>
          </p:cNvPr>
          <p:cNvSpPr txBox="1"/>
          <p:nvPr/>
        </p:nvSpPr>
        <p:spPr>
          <a:xfrm>
            <a:off x="1500633" y="4932875"/>
            <a:ext cx="4866295" cy="1200329"/>
          </a:xfrm>
          <a:prstGeom prst="rect">
            <a:avLst/>
          </a:prstGeom>
          <a:solidFill>
            <a:schemeClr val="tx2">
              <a:lumMod val="25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es-MX" dirty="0" err="1"/>
              <a:t>axios.get</a:t>
            </a:r>
            <a:r>
              <a:rPr lang="es-MX" dirty="0"/>
              <a:t>(</a:t>
            </a:r>
            <a:r>
              <a:rPr lang="es-MX" dirty="0">
                <a:solidFill>
                  <a:srgbClr val="92D050"/>
                </a:solidFill>
              </a:rPr>
              <a:t>'https://api.ejemplo.com/datos'</a:t>
            </a:r>
            <a:r>
              <a:rPr lang="es-MX" dirty="0"/>
              <a:t>)</a:t>
            </a:r>
          </a:p>
          <a:p>
            <a:r>
              <a:rPr lang="es-MX" dirty="0"/>
              <a:t>  .</a:t>
            </a:r>
            <a:r>
              <a:rPr lang="es-MX" dirty="0" err="1"/>
              <a:t>then</a:t>
            </a:r>
            <a:r>
              <a:rPr lang="es-MX" dirty="0"/>
              <a:t>(response =&gt; </a:t>
            </a:r>
            <a:r>
              <a:rPr lang="es-MX" dirty="0">
                <a:solidFill>
                  <a:srgbClr val="9BE5FF"/>
                </a:solidFill>
              </a:rPr>
              <a:t>console</a:t>
            </a:r>
            <a:r>
              <a:rPr lang="es-MX" dirty="0"/>
              <a:t>.log(</a:t>
            </a:r>
            <a:r>
              <a:rPr lang="es-MX" dirty="0" err="1"/>
              <a:t>response.data</a:t>
            </a:r>
            <a:r>
              <a:rPr lang="es-MX" dirty="0"/>
              <a:t>)) // JSON automático</a:t>
            </a:r>
          </a:p>
          <a:p>
            <a:r>
              <a:rPr lang="es-MX" dirty="0"/>
              <a:t>  .catch(error =&gt; </a:t>
            </a:r>
            <a:r>
              <a:rPr lang="es-MX" dirty="0" err="1">
                <a:solidFill>
                  <a:srgbClr val="9BE5FF"/>
                </a:solidFill>
              </a:rPr>
              <a:t>console</a:t>
            </a:r>
            <a:r>
              <a:rPr lang="es-MX" dirty="0" err="1"/>
              <a:t>.error</a:t>
            </a:r>
            <a:r>
              <a:rPr lang="es-MX" dirty="0"/>
              <a:t>(error));</a:t>
            </a:r>
          </a:p>
        </p:txBody>
      </p:sp>
    </p:spTree>
    <p:extLst>
      <p:ext uri="{BB962C8B-B14F-4D97-AF65-F5344CB8AC3E}">
        <p14:creationId xmlns:p14="http://schemas.microsoft.com/office/powerpoint/2010/main" val="25561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E47C5-AD79-E450-45B0-E305597D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Async</a:t>
            </a:r>
            <a:r>
              <a:rPr lang="es-MX" dirty="0"/>
              <a:t> / </a:t>
            </a:r>
            <a:r>
              <a:rPr lang="es-MX" dirty="0" err="1"/>
              <a:t>Await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DD53E0-D0BF-0CB1-1A97-309F8FF25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No es una librería, sino la sintaxis moderna ("</a:t>
            </a:r>
            <a:r>
              <a:rPr lang="es-MX" dirty="0" err="1"/>
              <a:t>sugar</a:t>
            </a:r>
            <a:r>
              <a:rPr lang="es-MX" dirty="0"/>
              <a:t> </a:t>
            </a:r>
            <a:r>
              <a:rPr lang="es-MX" dirty="0" err="1"/>
              <a:t>syntax</a:t>
            </a:r>
            <a:r>
              <a:rPr lang="es-MX" dirty="0"/>
              <a:t>") para trabajar con promesas (ya sea </a:t>
            </a:r>
            <a:r>
              <a:rPr lang="es-MX" dirty="0" err="1"/>
              <a:t>Fetch</a:t>
            </a:r>
            <a:r>
              <a:rPr lang="es-MX" dirty="0"/>
              <a:t>, Axios o jQuery 3.0+). Hace que el código asíncrono parezca síncrono, mejorando la legibilidad.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50B01A-A3A9-362B-7C82-A954C5A5F898}"/>
              </a:ext>
            </a:extLst>
          </p:cNvPr>
          <p:cNvSpPr txBox="1"/>
          <p:nvPr/>
        </p:nvSpPr>
        <p:spPr>
          <a:xfrm>
            <a:off x="1440249" y="3518143"/>
            <a:ext cx="6701988" cy="2585323"/>
          </a:xfrm>
          <a:prstGeom prst="rect">
            <a:avLst/>
          </a:prstGeom>
          <a:solidFill>
            <a:schemeClr val="tx2">
              <a:lumMod val="25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C59EE2"/>
                </a:solidFill>
              </a:rPr>
              <a:t>async</a:t>
            </a:r>
            <a:r>
              <a:rPr lang="es-MX" dirty="0">
                <a:solidFill>
                  <a:srgbClr val="C59EE2"/>
                </a:solidFill>
              </a:rPr>
              <a:t> </a:t>
            </a:r>
            <a:r>
              <a:rPr lang="es-MX" dirty="0" err="1">
                <a:solidFill>
                  <a:srgbClr val="C59EE2"/>
                </a:solidFill>
              </a:rPr>
              <a:t>function</a:t>
            </a:r>
            <a:r>
              <a:rPr lang="es-MX" dirty="0">
                <a:solidFill>
                  <a:srgbClr val="C59EE2"/>
                </a:solidFill>
              </a:rPr>
              <a:t> </a:t>
            </a:r>
            <a:r>
              <a:rPr lang="es-MX" dirty="0" err="1"/>
              <a:t>obtenerDatos</a:t>
            </a:r>
            <a:r>
              <a:rPr lang="es-MX" dirty="0"/>
              <a:t>() {</a:t>
            </a:r>
          </a:p>
          <a:p>
            <a:r>
              <a:rPr lang="es-MX" dirty="0"/>
              <a:t>    </a:t>
            </a:r>
            <a:r>
              <a:rPr lang="es-MX" dirty="0">
                <a:solidFill>
                  <a:srgbClr val="C59EE2"/>
                </a:solidFill>
              </a:rPr>
              <a:t>try</a:t>
            </a:r>
            <a:r>
              <a:rPr lang="es-MX" dirty="0"/>
              <a:t> {</a:t>
            </a:r>
          </a:p>
          <a:p>
            <a:r>
              <a:rPr lang="es-MX" dirty="0"/>
              <a:t>        </a:t>
            </a:r>
            <a:r>
              <a:rPr lang="es-MX" dirty="0" err="1">
                <a:solidFill>
                  <a:srgbClr val="C59EE2"/>
                </a:solidFill>
              </a:rPr>
              <a:t>const</a:t>
            </a:r>
            <a:r>
              <a:rPr lang="es-MX" dirty="0"/>
              <a:t> respuesta = </a:t>
            </a:r>
            <a:r>
              <a:rPr lang="es-MX" dirty="0" err="1">
                <a:solidFill>
                  <a:srgbClr val="C59EE2"/>
                </a:solidFill>
              </a:rPr>
              <a:t>await</a:t>
            </a:r>
            <a:r>
              <a:rPr lang="es-MX" dirty="0">
                <a:solidFill>
                  <a:srgbClr val="C59EE2"/>
                </a:solidFill>
              </a:rPr>
              <a:t> </a:t>
            </a:r>
            <a:r>
              <a:rPr lang="es-MX" dirty="0" err="1"/>
              <a:t>fetch</a:t>
            </a:r>
            <a:r>
              <a:rPr lang="es-MX" dirty="0"/>
              <a:t>(</a:t>
            </a:r>
            <a:r>
              <a:rPr lang="es-MX" dirty="0">
                <a:solidFill>
                  <a:srgbClr val="92D050"/>
                </a:solidFill>
              </a:rPr>
              <a:t>'https://api.ejemplo.com/datos'</a:t>
            </a:r>
            <a:r>
              <a:rPr lang="es-MX" dirty="0"/>
              <a:t>);</a:t>
            </a:r>
          </a:p>
          <a:p>
            <a:r>
              <a:rPr lang="es-MX" dirty="0"/>
              <a:t>        </a:t>
            </a:r>
            <a:r>
              <a:rPr lang="es-MX" dirty="0" err="1">
                <a:solidFill>
                  <a:srgbClr val="C59EE2"/>
                </a:solidFill>
              </a:rPr>
              <a:t>const</a:t>
            </a:r>
            <a:r>
              <a:rPr lang="es-MX" dirty="0"/>
              <a:t> data = </a:t>
            </a:r>
            <a:r>
              <a:rPr lang="es-MX" dirty="0" err="1"/>
              <a:t>await</a:t>
            </a:r>
            <a:r>
              <a:rPr lang="es-MX" dirty="0"/>
              <a:t> </a:t>
            </a:r>
            <a:r>
              <a:rPr lang="es-MX" dirty="0" err="1"/>
              <a:t>respuesta.json</a:t>
            </a:r>
            <a:r>
              <a:rPr lang="es-MX" dirty="0"/>
              <a:t>();</a:t>
            </a:r>
          </a:p>
          <a:p>
            <a:r>
              <a:rPr lang="es-MX" dirty="0"/>
              <a:t>        </a:t>
            </a:r>
            <a:r>
              <a:rPr lang="es-MX" dirty="0">
                <a:solidFill>
                  <a:srgbClr val="9BE5FF"/>
                </a:solidFill>
              </a:rPr>
              <a:t>console</a:t>
            </a:r>
            <a:r>
              <a:rPr lang="es-MX" dirty="0"/>
              <a:t>.log(data);</a:t>
            </a:r>
          </a:p>
          <a:p>
            <a:r>
              <a:rPr lang="es-MX" dirty="0"/>
              <a:t>    } </a:t>
            </a:r>
            <a:r>
              <a:rPr lang="es-MX" dirty="0">
                <a:solidFill>
                  <a:srgbClr val="C59EE2"/>
                </a:solidFill>
              </a:rPr>
              <a:t>catch</a:t>
            </a:r>
            <a:r>
              <a:rPr lang="es-MX" dirty="0"/>
              <a:t> (error) {</a:t>
            </a:r>
          </a:p>
          <a:p>
            <a:r>
              <a:rPr lang="es-MX" dirty="0"/>
              <a:t>        </a:t>
            </a:r>
            <a:r>
              <a:rPr lang="es-MX" dirty="0" err="1">
                <a:solidFill>
                  <a:srgbClr val="9BE5FF"/>
                </a:solidFill>
              </a:rPr>
              <a:t>console</a:t>
            </a:r>
            <a:r>
              <a:rPr lang="es-MX" dirty="0" err="1"/>
              <a:t>.error</a:t>
            </a:r>
            <a:r>
              <a:rPr lang="es-MX" dirty="0"/>
              <a:t>(error);</a:t>
            </a:r>
          </a:p>
          <a:p>
            <a:r>
              <a:rPr lang="es-MX" dirty="0"/>
              <a:t>    }</a:t>
            </a:r>
          </a:p>
          <a:p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724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8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43F8043-C799-466F-8C9B-9AB1ADB60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olor Fill">
            <a:extLst>
              <a:ext uri="{FF2B5EF4-FFF2-40B4-BE49-F238E27FC236}">
                <a16:creationId xmlns:a16="http://schemas.microsoft.com/office/drawing/2014/main" id="{E2539269-A988-4404-9F15-456795083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06F529-CD5D-4778-9EFF-539782DE4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227"/>
            <a:ext cx="12192000" cy="6861227"/>
            <a:chOff x="0" y="-3227"/>
            <a:chExt cx="12192000" cy="686122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DD05D7-729A-4FEE-8BAE-4DF76A86D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58790" y="124188"/>
              <a:ext cx="215755" cy="215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6A34F10-25C0-4696-A77E-D08B72EA7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9553" y="2866365"/>
              <a:ext cx="697984" cy="69798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CF4D24D-08A4-4D2F-9911-46A2D17E6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134" y="3762066"/>
              <a:ext cx="230192" cy="2301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Graphic 9">
              <a:extLst>
                <a:ext uri="{FF2B5EF4-FFF2-40B4-BE49-F238E27FC236}">
                  <a16:creationId xmlns:a16="http://schemas.microsoft.com/office/drawing/2014/main" id="{A60E1FF2-EE91-4C0C-914A-262F36E1E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451544" y="-3227"/>
              <a:ext cx="2740456" cy="274045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Graphic 9">
              <a:extLst>
                <a:ext uri="{FF2B5EF4-FFF2-40B4-BE49-F238E27FC236}">
                  <a16:creationId xmlns:a16="http://schemas.microsoft.com/office/drawing/2014/main" id="{8B579174-67A2-4DA2-8E51-013AFF86C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21871" y="163409"/>
              <a:ext cx="2387894" cy="2387894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6CAC630-4D61-4D13-88B3-734086C50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060" y="599153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79CE322-CC11-442C-A018-DE4477110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903403"/>
              <a:ext cx="1715504" cy="2954597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0BCD36D-87B5-4011-9D23-FE2BB6828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168300"/>
              <a:ext cx="1533337" cy="2555470"/>
            </a:xfrm>
            <a:custGeom>
              <a:avLst/>
              <a:gdLst>
                <a:gd name="connsiteX0" fmla="*/ 0 w 1986804"/>
                <a:gd name="connsiteY0" fmla="*/ 0 h 2902159"/>
                <a:gd name="connsiteX1" fmla="*/ 533594 w 1986804"/>
                <a:gd name="connsiteY1" fmla="*/ 0 h 2902159"/>
                <a:gd name="connsiteX2" fmla="*/ 1986804 w 1986804"/>
                <a:gd name="connsiteY2" fmla="*/ 1453211 h 2902159"/>
                <a:gd name="connsiteX3" fmla="*/ 1986804 w 1986804"/>
                <a:gd name="connsiteY3" fmla="*/ 2902159 h 2902159"/>
                <a:gd name="connsiteX4" fmla="*/ 537856 w 1986804"/>
                <a:gd name="connsiteY4" fmla="*/ 2902159 h 2902159"/>
                <a:gd name="connsiteX5" fmla="*/ 105713 w 1986804"/>
                <a:gd name="connsiteY5" fmla="*/ 2836826 h 2902159"/>
                <a:gd name="connsiteX6" fmla="*/ 0 w 1986804"/>
                <a:gd name="connsiteY6" fmla="*/ 2798136 h 290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804" h="2902159">
                  <a:moveTo>
                    <a:pt x="0" y="0"/>
                  </a:moveTo>
                  <a:lnTo>
                    <a:pt x="533594" y="0"/>
                  </a:lnTo>
                  <a:cubicBezTo>
                    <a:pt x="1336188" y="0"/>
                    <a:pt x="1986804" y="650616"/>
                    <a:pt x="1986804" y="1453211"/>
                  </a:cubicBezTo>
                  <a:lnTo>
                    <a:pt x="1986804" y="2902159"/>
                  </a:lnTo>
                  <a:lnTo>
                    <a:pt x="537856" y="2902159"/>
                  </a:lnTo>
                  <a:cubicBezTo>
                    <a:pt x="387370" y="2902159"/>
                    <a:pt x="242226" y="2879286"/>
                    <a:pt x="105713" y="2836826"/>
                  </a:cubicBezTo>
                  <a:lnTo>
                    <a:pt x="0" y="279813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9659E5-874B-44E0-BE0A-B8409AF8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85047" y="4685933"/>
              <a:ext cx="2406953" cy="2172067"/>
            </a:xfrm>
            <a:custGeom>
              <a:avLst/>
              <a:gdLst>
                <a:gd name="connsiteX0" fmla="*/ 1229573 w 2406953"/>
                <a:gd name="connsiteY0" fmla="*/ 0 h 2172067"/>
                <a:gd name="connsiteX1" fmla="*/ 2406313 w 2406953"/>
                <a:gd name="connsiteY1" fmla="*/ 1496275 h 2172067"/>
                <a:gd name="connsiteX2" fmla="*/ 2406953 w 2406953"/>
                <a:gd name="connsiteY2" fmla="*/ 1499327 h 2172067"/>
                <a:gd name="connsiteX3" fmla="*/ 2406953 w 2406953"/>
                <a:gd name="connsiteY3" fmla="*/ 2172067 h 2172067"/>
                <a:gd name="connsiteX4" fmla="*/ 36154 w 2406953"/>
                <a:gd name="connsiteY4" fmla="*/ 2172067 h 2172067"/>
                <a:gd name="connsiteX5" fmla="*/ 13809 w 2406953"/>
                <a:gd name="connsiteY5" fmla="*/ 2065529 h 2172067"/>
                <a:gd name="connsiteX6" fmla="*/ 0 w 2406953"/>
                <a:gd name="connsiteY6" fmla="*/ 1873933 h 2172067"/>
                <a:gd name="connsiteX7" fmla="*/ 1229573 w 2406953"/>
                <a:gd name="connsiteY7" fmla="*/ 0 h 21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953" h="2172067">
                  <a:moveTo>
                    <a:pt x="1229573" y="0"/>
                  </a:moveTo>
                  <a:cubicBezTo>
                    <a:pt x="1229573" y="0"/>
                    <a:pt x="2170965" y="642363"/>
                    <a:pt x="2406313" y="1496275"/>
                  </a:cubicBezTo>
                  <a:lnTo>
                    <a:pt x="2406953" y="1499327"/>
                  </a:lnTo>
                  <a:lnTo>
                    <a:pt x="2406953" y="2172067"/>
                  </a:lnTo>
                  <a:lnTo>
                    <a:pt x="36154" y="2172067"/>
                  </a:lnTo>
                  <a:lnTo>
                    <a:pt x="13809" y="2065529"/>
                  </a:lnTo>
                  <a:cubicBezTo>
                    <a:pt x="4803" y="2002533"/>
                    <a:pt x="0" y="1938616"/>
                    <a:pt x="0" y="1873933"/>
                  </a:cubicBezTo>
                  <a:cubicBezTo>
                    <a:pt x="0" y="839004"/>
                    <a:pt x="1229573" y="0"/>
                    <a:pt x="122957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5" name="Texture">
            <a:extLst>
              <a:ext uri="{FF2B5EF4-FFF2-40B4-BE49-F238E27FC236}">
                <a16:creationId xmlns:a16="http://schemas.microsoft.com/office/drawing/2014/main" id="{805817B5-27FE-455C-B285-B97D53E1E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681593-5905-40BD-FE2D-627FB3066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583" y="604018"/>
            <a:ext cx="5859787" cy="2824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Gracias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248954045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634</Words>
  <Application>Microsoft Office PowerPoint</Application>
  <PresentationFormat>Panorámica</PresentationFormat>
  <Paragraphs>65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Abadi</vt:lpstr>
      <vt:lpstr>Aptos</vt:lpstr>
      <vt:lpstr>Arial</vt:lpstr>
      <vt:lpstr>Gill Sans Nova</vt:lpstr>
      <vt:lpstr>TropicVTI</vt:lpstr>
      <vt:lpstr>Jquery.js y alternativas a peticiones asíncronas</vt:lpstr>
      <vt:lpstr>¿Que es?</vt:lpstr>
      <vt:lpstr>Presentación de PowerPoint</vt:lpstr>
      <vt:lpstr>Estrategia de Peticiones Asíncronas (AJAX)</vt:lpstr>
      <vt:lpstr>Alternativas Modernas</vt:lpstr>
      <vt:lpstr>Fetch API (Nativo)</vt:lpstr>
      <vt:lpstr>Axios (Librería)</vt:lpstr>
      <vt:lpstr>Async / Await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ALDAIR ZAPATA PONCIANO</dc:creator>
  <cp:lastModifiedBy>JONATHAN ALDAIR ZAPATA PONCIANO</cp:lastModifiedBy>
  <cp:revision>4</cp:revision>
  <dcterms:created xsi:type="dcterms:W3CDTF">2026-02-09T01:06:31Z</dcterms:created>
  <dcterms:modified xsi:type="dcterms:W3CDTF">2026-02-09T01:54:48Z</dcterms:modified>
</cp:coreProperties>
</file>