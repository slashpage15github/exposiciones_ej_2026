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5" r:id="rId8"/>
    <p:sldId id="262" r:id="rId9"/>
    <p:sldId id="263"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6" d="100"/>
          <a:sy n="76" d="100"/>
        </p:scale>
        <p:origin x="62"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s-MX"/>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s-MX"/>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s-MX"/>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s-MX"/>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E261DCC-737A-4C4D-A96E-68BAE24BA237}" type="datetimeFigureOut">
              <a:rPr lang="es-MX" smtClean="0"/>
              <a:t>26/ene.2026</a:t>
            </a:fld>
            <a:endParaRPr lang="es-MX"/>
          </a:p>
        </p:txBody>
      </p:sp>
      <p:sp>
        <p:nvSpPr>
          <p:cNvPr id="5" name="Footer Placeholder 4"/>
          <p:cNvSpPr>
            <a:spLocks noGrp="1"/>
          </p:cNvSpPr>
          <p:nvPr>
            <p:ph type="ftr" sz="quarter" idx="11"/>
          </p:nvPr>
        </p:nvSpPr>
        <p:spPr>
          <a:xfrm>
            <a:off x="1876424" y="5410201"/>
            <a:ext cx="5124886" cy="365125"/>
          </a:xfrm>
        </p:spPr>
        <p:txBody>
          <a:bodyPr/>
          <a:lstStyle/>
          <a:p>
            <a:endParaRPr lang="es-MX"/>
          </a:p>
        </p:txBody>
      </p:sp>
      <p:sp>
        <p:nvSpPr>
          <p:cNvPr id="6" name="Slide Number Placeholder 5"/>
          <p:cNvSpPr>
            <a:spLocks noGrp="1"/>
          </p:cNvSpPr>
          <p:nvPr>
            <p:ph type="sldNum" sz="quarter" idx="12"/>
          </p:nvPr>
        </p:nvSpPr>
        <p:spPr>
          <a:xfrm>
            <a:off x="9896911" y="5410199"/>
            <a:ext cx="771089" cy="365125"/>
          </a:xfrm>
        </p:spPr>
        <p:txBody>
          <a:bodyPr/>
          <a:lstStyle/>
          <a:p>
            <a:fld id="{8EA32D8D-BA98-428D-9CBA-D5FEC6905DAC}" type="slidenum">
              <a:rPr lang="es-MX" smtClean="0"/>
              <a:t>‹Nº›</a:t>
            </a:fld>
            <a:endParaRPr lang="es-MX"/>
          </a:p>
        </p:txBody>
      </p:sp>
    </p:spTree>
    <p:extLst>
      <p:ext uri="{BB962C8B-B14F-4D97-AF65-F5344CB8AC3E}">
        <p14:creationId xmlns:p14="http://schemas.microsoft.com/office/powerpoint/2010/main" val="1412515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E261DCC-737A-4C4D-A96E-68BAE24BA237}" type="datetimeFigureOut">
              <a:rPr lang="es-MX" smtClean="0"/>
              <a:t>26/ene.2026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8EA32D8D-BA98-428D-9CBA-D5FEC6905DAC}" type="slidenum">
              <a:rPr lang="es-MX" smtClean="0"/>
              <a:t>‹Nº›</a:t>
            </a:fld>
            <a:endParaRPr lang="es-MX"/>
          </a:p>
        </p:txBody>
      </p:sp>
    </p:spTree>
    <p:extLst>
      <p:ext uri="{BB962C8B-B14F-4D97-AF65-F5344CB8AC3E}">
        <p14:creationId xmlns:p14="http://schemas.microsoft.com/office/powerpoint/2010/main" val="1782069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E261DCC-737A-4C4D-A96E-68BAE24BA237}" type="datetimeFigureOut">
              <a:rPr lang="es-MX" smtClean="0"/>
              <a:t>26/ene.2026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8EA32D8D-BA98-428D-9CBA-D5FEC6905DAC}" type="slidenum">
              <a:rPr lang="es-MX" smtClean="0"/>
              <a:t>‹Nº›</a:t>
            </a:fld>
            <a:endParaRPr lang="es-MX"/>
          </a:p>
        </p:txBody>
      </p:sp>
    </p:spTree>
    <p:extLst>
      <p:ext uri="{BB962C8B-B14F-4D97-AF65-F5344CB8AC3E}">
        <p14:creationId xmlns:p14="http://schemas.microsoft.com/office/powerpoint/2010/main" val="1923930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E261DCC-737A-4C4D-A96E-68BAE24BA237}" type="datetimeFigureOut">
              <a:rPr lang="es-MX" smtClean="0"/>
              <a:t>26/ene.2026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8EA32D8D-BA98-428D-9CBA-D5FEC6905DAC}" type="slidenum">
              <a:rPr lang="es-MX" smtClean="0"/>
              <a:t>‹Nº›</a:t>
            </a:fld>
            <a:endParaRPr lang="es-MX"/>
          </a:p>
        </p:txBody>
      </p:sp>
    </p:spTree>
    <p:extLst>
      <p:ext uri="{BB962C8B-B14F-4D97-AF65-F5344CB8AC3E}">
        <p14:creationId xmlns:p14="http://schemas.microsoft.com/office/powerpoint/2010/main" val="490390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41410" y="3073397"/>
            <a:ext cx="4878391" cy="271780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3073397"/>
            <a:ext cx="4875210" cy="271780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E261DCC-737A-4C4D-A96E-68BAE24BA237}" type="datetimeFigureOut">
              <a:rPr lang="es-MX" smtClean="0"/>
              <a:t>26/ene.2026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8EA32D8D-BA98-428D-9CBA-D5FEC6905DAC}" type="slidenum">
              <a:rPr lang="es-MX" smtClean="0"/>
              <a:t>‹Nº›</a:t>
            </a:fld>
            <a:endParaRPr lang="es-MX"/>
          </a:p>
        </p:txBody>
      </p:sp>
    </p:spTree>
    <p:extLst>
      <p:ext uri="{BB962C8B-B14F-4D97-AF65-F5344CB8AC3E}">
        <p14:creationId xmlns:p14="http://schemas.microsoft.com/office/powerpoint/2010/main" val="4053803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E261DCC-737A-4C4D-A96E-68BAE24BA237}" type="datetimeFigureOut">
              <a:rPr lang="es-MX" smtClean="0"/>
              <a:t>26/ene.2026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8EA32D8D-BA98-428D-9CBA-D5FEC6905DAC}" type="slidenum">
              <a:rPr lang="es-MX" smtClean="0"/>
              <a:t>‹Nº›</a:t>
            </a:fld>
            <a:endParaRPr lang="es-MX"/>
          </a:p>
        </p:txBody>
      </p:sp>
    </p:spTree>
    <p:extLst>
      <p:ext uri="{BB962C8B-B14F-4D97-AF65-F5344CB8AC3E}">
        <p14:creationId xmlns:p14="http://schemas.microsoft.com/office/powerpoint/2010/main" val="406375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261DCC-737A-4C4D-A96E-68BAE24BA237}" type="datetimeFigureOut">
              <a:rPr lang="es-MX" smtClean="0"/>
              <a:t>26/ene.2026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8EA32D8D-BA98-428D-9CBA-D5FEC6905DAC}" type="slidenum">
              <a:rPr lang="es-MX" smtClean="0"/>
              <a:t>‹Nº›</a:t>
            </a:fld>
            <a:endParaRPr lang="es-MX"/>
          </a:p>
        </p:txBody>
      </p:sp>
    </p:spTree>
    <p:extLst>
      <p:ext uri="{BB962C8B-B14F-4D97-AF65-F5344CB8AC3E}">
        <p14:creationId xmlns:p14="http://schemas.microsoft.com/office/powerpoint/2010/main" val="35559223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E261DCC-737A-4C4D-A96E-68BAE24BA237}" type="datetimeFigureOut">
              <a:rPr lang="es-MX" smtClean="0"/>
              <a:t>26/ene.2026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8EA32D8D-BA98-428D-9CBA-D5FEC6905DAC}" type="slidenum">
              <a:rPr lang="es-MX" smtClean="0"/>
              <a:t>‹Nº›</a:t>
            </a:fld>
            <a:endParaRPr lang="es-MX"/>
          </a:p>
        </p:txBody>
      </p:sp>
    </p:spTree>
    <p:extLst>
      <p:ext uri="{BB962C8B-B14F-4D97-AF65-F5344CB8AC3E}">
        <p14:creationId xmlns:p14="http://schemas.microsoft.com/office/powerpoint/2010/main" val="41717638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E261DCC-737A-4C4D-A96E-68BAE24BA237}" type="datetimeFigureOut">
              <a:rPr lang="es-MX" smtClean="0"/>
              <a:t>26/ene.2026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8EA32D8D-BA98-428D-9CBA-D5FEC6905DAC}" type="slidenum">
              <a:rPr lang="es-MX" smtClean="0"/>
              <a:t>‹Nº›</a:t>
            </a:fld>
            <a:endParaRPr lang="es-MX"/>
          </a:p>
        </p:txBody>
      </p:sp>
    </p:spTree>
    <p:extLst>
      <p:ext uri="{BB962C8B-B14F-4D97-AF65-F5344CB8AC3E}">
        <p14:creationId xmlns:p14="http://schemas.microsoft.com/office/powerpoint/2010/main" val="501617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s-ES"/>
              <a:t>Haga clic en el icono para agregar una imagen</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E261DCC-737A-4C4D-A96E-68BAE24BA237}" type="datetimeFigureOut">
              <a:rPr lang="es-MX" smtClean="0"/>
              <a:t>26/ene.2026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8EA32D8D-BA98-428D-9CBA-D5FEC6905DAC}" type="slidenum">
              <a:rPr lang="es-MX" smtClean="0"/>
              <a:t>‹Nº›</a:t>
            </a:fld>
            <a:endParaRPr lang="es-MX"/>
          </a:p>
        </p:txBody>
      </p:sp>
    </p:spTree>
    <p:extLst>
      <p:ext uri="{BB962C8B-B14F-4D97-AF65-F5344CB8AC3E}">
        <p14:creationId xmlns:p14="http://schemas.microsoft.com/office/powerpoint/2010/main" val="30216782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E261DCC-737A-4C4D-A96E-68BAE24BA237}" type="datetimeFigureOut">
              <a:rPr lang="es-MX" smtClean="0"/>
              <a:t>26/ene.2026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8EA32D8D-BA98-428D-9CBA-D5FEC6905DAC}" type="slidenum">
              <a:rPr lang="es-MX" smtClean="0"/>
              <a:t>‹Nº›</a:t>
            </a:fld>
            <a:endParaRPr lang="es-MX"/>
          </a:p>
        </p:txBody>
      </p:sp>
    </p:spTree>
    <p:extLst>
      <p:ext uri="{BB962C8B-B14F-4D97-AF65-F5344CB8AC3E}">
        <p14:creationId xmlns:p14="http://schemas.microsoft.com/office/powerpoint/2010/main" val="4375839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E261DCC-737A-4C4D-A96E-68BAE24BA237}" type="datetimeFigureOut">
              <a:rPr lang="es-MX" smtClean="0"/>
              <a:t>26/ene.2026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8EA32D8D-BA98-428D-9CBA-D5FEC6905DAC}" type="slidenum">
              <a:rPr lang="es-MX" smtClean="0"/>
              <a:t>‹Nº›</a:t>
            </a:fld>
            <a:endParaRPr lang="es-MX"/>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78342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E261DCC-737A-4C4D-A96E-68BAE24BA237}" type="datetimeFigureOut">
              <a:rPr lang="es-MX" smtClean="0"/>
              <a:t>26/ene.2026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8EA32D8D-BA98-428D-9CBA-D5FEC6905DAC}" type="slidenum">
              <a:rPr lang="es-MX" smtClean="0"/>
              <a:t>‹Nº›</a:t>
            </a:fld>
            <a:endParaRPr lang="es-MX"/>
          </a:p>
        </p:txBody>
      </p:sp>
    </p:spTree>
    <p:extLst>
      <p:ext uri="{BB962C8B-B14F-4D97-AF65-F5344CB8AC3E}">
        <p14:creationId xmlns:p14="http://schemas.microsoft.com/office/powerpoint/2010/main" val="307056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4E261DCC-737A-4C4D-A96E-68BAE24BA237}" type="datetimeFigureOut">
              <a:rPr lang="es-MX" smtClean="0"/>
              <a:t>26/ene.2026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8EA32D8D-BA98-428D-9CBA-D5FEC6905DAC}" type="slidenum">
              <a:rPr lang="es-MX" smtClean="0"/>
              <a:t>‹Nº›</a:t>
            </a:fld>
            <a:endParaRPr lang="es-MX"/>
          </a:p>
        </p:txBody>
      </p:sp>
    </p:spTree>
    <p:extLst>
      <p:ext uri="{BB962C8B-B14F-4D97-AF65-F5344CB8AC3E}">
        <p14:creationId xmlns:p14="http://schemas.microsoft.com/office/powerpoint/2010/main" val="11147037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4E261DCC-737A-4C4D-A96E-68BAE24BA237}" type="datetimeFigureOut">
              <a:rPr lang="es-MX" smtClean="0"/>
              <a:t>26/ene.2026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8EA32D8D-BA98-428D-9CBA-D5FEC6905DAC}" type="slidenum">
              <a:rPr lang="es-MX" smtClean="0"/>
              <a:t>‹Nº›</a:t>
            </a:fld>
            <a:endParaRPr lang="es-MX"/>
          </a:p>
        </p:txBody>
      </p:sp>
    </p:spTree>
    <p:extLst>
      <p:ext uri="{BB962C8B-B14F-4D97-AF65-F5344CB8AC3E}">
        <p14:creationId xmlns:p14="http://schemas.microsoft.com/office/powerpoint/2010/main" val="1849359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E261DCC-737A-4C4D-A96E-68BAE24BA237}" type="datetimeFigureOut">
              <a:rPr lang="es-MX" smtClean="0"/>
              <a:t>26/ene.2026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8EA32D8D-BA98-428D-9CBA-D5FEC6905DAC}" type="slidenum">
              <a:rPr lang="es-MX" smtClean="0"/>
              <a:t>‹Nº›</a:t>
            </a:fld>
            <a:endParaRPr lang="es-MX"/>
          </a:p>
        </p:txBody>
      </p:sp>
    </p:spTree>
    <p:extLst>
      <p:ext uri="{BB962C8B-B14F-4D97-AF65-F5344CB8AC3E}">
        <p14:creationId xmlns:p14="http://schemas.microsoft.com/office/powerpoint/2010/main" val="15650843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E261DCC-737A-4C4D-A96E-68BAE24BA237}" type="datetimeFigureOut">
              <a:rPr lang="es-MX" smtClean="0"/>
              <a:t>26/ene.2026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8EA32D8D-BA98-428D-9CBA-D5FEC6905DAC}" type="slidenum">
              <a:rPr lang="es-MX" smtClean="0"/>
              <a:t>‹Nº›</a:t>
            </a:fld>
            <a:endParaRPr lang="es-MX"/>
          </a:p>
        </p:txBody>
      </p:sp>
    </p:spTree>
    <p:extLst>
      <p:ext uri="{BB962C8B-B14F-4D97-AF65-F5344CB8AC3E}">
        <p14:creationId xmlns:p14="http://schemas.microsoft.com/office/powerpoint/2010/main" val="3124446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s-MX"/>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s-MX"/>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s-MX"/>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MX"/>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s-MX"/>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E261DCC-737A-4C4D-A96E-68BAE24BA237}" type="datetimeFigureOut">
              <a:rPr lang="es-MX" smtClean="0"/>
              <a:t>26/ene.2026</a:t>
            </a:fld>
            <a:endParaRPr lang="es-MX"/>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EA32D8D-BA98-428D-9CBA-D5FEC6905DAC}" type="slidenum">
              <a:rPr lang="es-MX" smtClean="0"/>
              <a:t>‹Nº›</a:t>
            </a:fld>
            <a:endParaRPr lang="es-MX"/>
          </a:p>
        </p:txBody>
      </p:sp>
    </p:spTree>
    <p:extLst>
      <p:ext uri="{BB962C8B-B14F-4D97-AF65-F5344CB8AC3E}">
        <p14:creationId xmlns:p14="http://schemas.microsoft.com/office/powerpoint/2010/main" val="398050489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BC00D6-67A5-109E-58C6-22526FFB6F64}"/>
              </a:ext>
            </a:extLst>
          </p:cNvPr>
          <p:cNvSpPr>
            <a:spLocks noGrp="1"/>
          </p:cNvSpPr>
          <p:nvPr>
            <p:ph type="ctrTitle"/>
          </p:nvPr>
        </p:nvSpPr>
        <p:spPr/>
        <p:txBody>
          <a:bodyPr/>
          <a:lstStyle/>
          <a:p>
            <a:r>
              <a:rPr lang="es-MX" dirty="0" err="1"/>
              <a:t>Javascript</a:t>
            </a:r>
            <a:r>
              <a:rPr lang="es-MX" dirty="0"/>
              <a:t> y </a:t>
            </a:r>
            <a:r>
              <a:rPr lang="es-MX" dirty="0" err="1"/>
              <a:t>NodeJS</a:t>
            </a:r>
            <a:endParaRPr lang="es-MX" dirty="0"/>
          </a:p>
        </p:txBody>
      </p:sp>
      <p:sp>
        <p:nvSpPr>
          <p:cNvPr id="3" name="Subtítulo 2">
            <a:extLst>
              <a:ext uri="{FF2B5EF4-FFF2-40B4-BE49-F238E27FC236}">
                <a16:creationId xmlns:a16="http://schemas.microsoft.com/office/drawing/2014/main" id="{B85BC2F8-E072-40C8-FDD5-AD4C935A009F}"/>
              </a:ext>
            </a:extLst>
          </p:cNvPr>
          <p:cNvSpPr>
            <a:spLocks noGrp="1"/>
          </p:cNvSpPr>
          <p:nvPr>
            <p:ph type="subTitle" idx="1"/>
          </p:nvPr>
        </p:nvSpPr>
        <p:spPr/>
        <p:txBody>
          <a:bodyPr/>
          <a:lstStyle/>
          <a:p>
            <a:r>
              <a:rPr lang="es-MX" dirty="0"/>
              <a:t>Desarrollo de aplicaciones Web</a:t>
            </a:r>
          </a:p>
          <a:p>
            <a:r>
              <a:rPr lang="es-MX" dirty="0"/>
              <a:t>Roberto Martínez Méndez</a:t>
            </a:r>
          </a:p>
        </p:txBody>
      </p:sp>
    </p:spTree>
    <p:extLst>
      <p:ext uri="{BB962C8B-B14F-4D97-AF65-F5344CB8AC3E}">
        <p14:creationId xmlns:p14="http://schemas.microsoft.com/office/powerpoint/2010/main" val="17723343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D3AF78-6B11-F76C-5081-4DE27FC52CF7}"/>
              </a:ext>
            </a:extLst>
          </p:cNvPr>
          <p:cNvSpPr>
            <a:spLocks noGrp="1"/>
          </p:cNvSpPr>
          <p:nvPr>
            <p:ph type="title"/>
          </p:nvPr>
        </p:nvSpPr>
        <p:spPr/>
        <p:txBody>
          <a:bodyPr/>
          <a:lstStyle/>
          <a:p>
            <a:r>
              <a:rPr lang="es-MX" dirty="0"/>
              <a:t>¿Qué es JavaScript?</a:t>
            </a:r>
          </a:p>
        </p:txBody>
      </p:sp>
      <p:sp>
        <p:nvSpPr>
          <p:cNvPr id="3" name="Marcador de contenido 2">
            <a:extLst>
              <a:ext uri="{FF2B5EF4-FFF2-40B4-BE49-F238E27FC236}">
                <a16:creationId xmlns:a16="http://schemas.microsoft.com/office/drawing/2014/main" id="{D580A9C6-81CD-36CD-86DB-9CA4B51DAA00}"/>
              </a:ext>
            </a:extLst>
          </p:cNvPr>
          <p:cNvSpPr>
            <a:spLocks noGrp="1"/>
          </p:cNvSpPr>
          <p:nvPr>
            <p:ph idx="1"/>
          </p:nvPr>
        </p:nvSpPr>
        <p:spPr/>
        <p:txBody>
          <a:bodyPr/>
          <a:lstStyle/>
          <a:p>
            <a:r>
              <a:rPr lang="es-MX" dirty="0"/>
              <a:t>JavaScript es un lenguaje de programación que los desarrolladores utilizan para hacer páginas web interactivas. Desde actualizar fuentes de redes sociales a mostrar animaciones y mapas interactivos, las funciones de JavaScript pueden mejorar la experiencia del usuario de un sitio web. Como lenguaje de scripting del lado del servidor, se trata de una de las principales tecnologías de la </a:t>
            </a:r>
            <a:r>
              <a:rPr lang="es-MX" dirty="0" err="1"/>
              <a:t>World</a:t>
            </a:r>
            <a:r>
              <a:rPr lang="es-MX" dirty="0"/>
              <a:t> Wide Web. </a:t>
            </a:r>
          </a:p>
        </p:txBody>
      </p:sp>
    </p:spTree>
    <p:extLst>
      <p:ext uri="{BB962C8B-B14F-4D97-AF65-F5344CB8AC3E}">
        <p14:creationId xmlns:p14="http://schemas.microsoft.com/office/powerpoint/2010/main" val="3138787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A22957-8401-4265-F676-F41FC8074CC8}"/>
              </a:ext>
            </a:extLst>
          </p:cNvPr>
          <p:cNvSpPr>
            <a:spLocks noGrp="1"/>
          </p:cNvSpPr>
          <p:nvPr>
            <p:ph type="title"/>
          </p:nvPr>
        </p:nvSpPr>
        <p:spPr/>
        <p:txBody>
          <a:bodyPr/>
          <a:lstStyle/>
          <a:p>
            <a:r>
              <a:rPr lang="es-MX" dirty="0"/>
              <a:t>¿Para que se utiliza?</a:t>
            </a:r>
          </a:p>
        </p:txBody>
      </p:sp>
      <p:sp>
        <p:nvSpPr>
          <p:cNvPr id="3" name="Marcador de contenido 2">
            <a:extLst>
              <a:ext uri="{FF2B5EF4-FFF2-40B4-BE49-F238E27FC236}">
                <a16:creationId xmlns:a16="http://schemas.microsoft.com/office/drawing/2014/main" id="{58334BD4-AC4B-5791-777F-0F30DEF18A30}"/>
              </a:ext>
            </a:extLst>
          </p:cNvPr>
          <p:cNvSpPr>
            <a:spLocks noGrp="1"/>
          </p:cNvSpPr>
          <p:nvPr>
            <p:ph idx="1"/>
          </p:nvPr>
        </p:nvSpPr>
        <p:spPr/>
        <p:txBody>
          <a:bodyPr>
            <a:normAutofit fontScale="92500"/>
          </a:bodyPr>
          <a:lstStyle/>
          <a:p>
            <a:r>
              <a:rPr lang="es-MX" dirty="0"/>
              <a:t>JavaScript surgió como una tecnología del lado del navegador para hacer que las aplicaciones web fueran más dinámicas. Por medio de JavaScript, los navegadores eran capaces de responder a la interacción de los usuarios y cambiar la distribución del contenido en la página web.</a:t>
            </a:r>
          </a:p>
          <a:p>
            <a:r>
              <a:rPr lang="es-MX" dirty="0"/>
              <a:t>A medida que el lenguaje evolucionó, los desarrolladores de JavaScript establecieron bibliotecas, marcos y prácticas de programación y comenzaron a utilizarlo fuera de los navegadores web. En la actualidad, puede utilizar JavaScript para el desarrollo tanto del lado del cliente como del lado del servidor.</a:t>
            </a:r>
          </a:p>
        </p:txBody>
      </p:sp>
    </p:spTree>
    <p:extLst>
      <p:ext uri="{BB962C8B-B14F-4D97-AF65-F5344CB8AC3E}">
        <p14:creationId xmlns:p14="http://schemas.microsoft.com/office/powerpoint/2010/main" val="2317915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BBE3C9-81D7-70E0-C7C1-B2C9DEFD3DDB}"/>
              </a:ext>
            </a:extLst>
          </p:cNvPr>
          <p:cNvSpPr>
            <a:spLocks noGrp="1"/>
          </p:cNvSpPr>
          <p:nvPr>
            <p:ph type="title"/>
          </p:nvPr>
        </p:nvSpPr>
        <p:spPr/>
        <p:txBody>
          <a:bodyPr/>
          <a:lstStyle/>
          <a:p>
            <a:r>
              <a:rPr lang="es-MX" dirty="0"/>
              <a:t>Ejemplos de uso</a:t>
            </a:r>
          </a:p>
        </p:txBody>
      </p:sp>
      <p:sp>
        <p:nvSpPr>
          <p:cNvPr id="3" name="Marcador de contenido 2">
            <a:extLst>
              <a:ext uri="{FF2B5EF4-FFF2-40B4-BE49-F238E27FC236}">
                <a16:creationId xmlns:a16="http://schemas.microsoft.com/office/drawing/2014/main" id="{159EAAB7-4B76-8C84-79E7-F05EA17200C1}"/>
              </a:ext>
            </a:extLst>
          </p:cNvPr>
          <p:cNvSpPr>
            <a:spLocks noGrp="1"/>
          </p:cNvSpPr>
          <p:nvPr>
            <p:ph idx="1"/>
          </p:nvPr>
        </p:nvSpPr>
        <p:spPr/>
        <p:txBody>
          <a:bodyPr>
            <a:normAutofit fontScale="85000" lnSpcReduction="20000"/>
          </a:bodyPr>
          <a:lstStyle/>
          <a:p>
            <a:r>
              <a:rPr lang="es-MX" b="1" dirty="0"/>
              <a:t>Interactividad en el navegador:</a:t>
            </a:r>
            <a:endParaRPr lang="es-MX" dirty="0"/>
          </a:p>
          <a:p>
            <a:pPr lvl="1"/>
            <a:r>
              <a:rPr lang="es-MX" b="1" dirty="0"/>
              <a:t>Mostrar/ocultar elementos.</a:t>
            </a:r>
            <a:endParaRPr lang="es-MX" dirty="0"/>
          </a:p>
          <a:p>
            <a:pPr lvl="1"/>
            <a:r>
              <a:rPr lang="es-MX" b="1" dirty="0"/>
              <a:t>Animaciones y transiciones.</a:t>
            </a:r>
            <a:endParaRPr lang="es-MX" dirty="0"/>
          </a:p>
          <a:p>
            <a:pPr lvl="1"/>
            <a:r>
              <a:rPr lang="es-MX" b="1" dirty="0"/>
              <a:t>Cambiar estilos dinámicamente.</a:t>
            </a:r>
            <a:endParaRPr lang="es-MX" dirty="0"/>
          </a:p>
          <a:p>
            <a:r>
              <a:rPr lang="es-MX" b="1" dirty="0"/>
              <a:t>Manipulación de datos.</a:t>
            </a:r>
          </a:p>
          <a:p>
            <a:r>
              <a:rPr lang="es-MX" b="1" dirty="0"/>
              <a:t>Ejemplos de Código Básicos:</a:t>
            </a:r>
            <a:endParaRPr lang="es-MX" dirty="0"/>
          </a:p>
          <a:p>
            <a:pPr lvl="1"/>
            <a:r>
              <a:rPr lang="es-MX" b="1" dirty="0"/>
              <a:t>Saludar al usuario:</a:t>
            </a:r>
            <a:r>
              <a:rPr lang="es-MX" dirty="0"/>
              <a:t> </a:t>
            </a:r>
            <a:r>
              <a:rPr lang="es-MX" dirty="0" err="1"/>
              <a:t>alert</a:t>
            </a:r>
            <a:r>
              <a:rPr lang="es-MX" dirty="0"/>
              <a:t>("¡Hola Mundo!");.</a:t>
            </a:r>
          </a:p>
          <a:p>
            <a:pPr lvl="1"/>
            <a:r>
              <a:rPr lang="es-MX" b="1" dirty="0"/>
              <a:t>Cambiar el texto de un elemento:</a:t>
            </a:r>
            <a:r>
              <a:rPr lang="es-MX" dirty="0"/>
              <a:t> </a:t>
            </a:r>
            <a:r>
              <a:rPr lang="es-MX" dirty="0" err="1"/>
              <a:t>document.getElementById</a:t>
            </a:r>
            <a:r>
              <a:rPr lang="es-MX" dirty="0"/>
              <a:t>("demo").</a:t>
            </a:r>
            <a:r>
              <a:rPr lang="es-MX" dirty="0" err="1"/>
              <a:t>innerHTML</a:t>
            </a:r>
            <a:r>
              <a:rPr lang="es-MX" dirty="0"/>
              <a:t> = "Nuevo texto";.</a:t>
            </a:r>
          </a:p>
          <a:p>
            <a:pPr lvl="1"/>
            <a:r>
              <a:rPr lang="es-MX" b="1" dirty="0"/>
              <a:t>Sumar números:</a:t>
            </a:r>
            <a:r>
              <a:rPr lang="es-MX" dirty="0"/>
              <a:t> </a:t>
            </a:r>
            <a:r>
              <a:rPr lang="es-MX" dirty="0" err="1"/>
              <a:t>let</a:t>
            </a:r>
            <a:r>
              <a:rPr lang="es-MX" dirty="0"/>
              <a:t> suma = 5 + 10;.</a:t>
            </a:r>
          </a:p>
          <a:p>
            <a:pPr lvl="1"/>
            <a:r>
              <a:rPr lang="es-MX" b="1" dirty="0"/>
              <a:t>Condicionales:</a:t>
            </a:r>
            <a:r>
              <a:rPr lang="es-MX" dirty="0"/>
              <a:t> </a:t>
            </a:r>
            <a:r>
              <a:rPr lang="es-MX" dirty="0" err="1"/>
              <a:t>if</a:t>
            </a:r>
            <a:r>
              <a:rPr lang="es-MX" dirty="0"/>
              <a:t> (hora &lt; 12) { saludo = "Buenos días"; }. </a:t>
            </a:r>
          </a:p>
          <a:p>
            <a:endParaRPr lang="es-MX" dirty="0"/>
          </a:p>
        </p:txBody>
      </p:sp>
    </p:spTree>
    <p:extLst>
      <p:ext uri="{BB962C8B-B14F-4D97-AF65-F5344CB8AC3E}">
        <p14:creationId xmlns:p14="http://schemas.microsoft.com/office/powerpoint/2010/main" val="2830027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6B2624-3E7E-8A37-B7F9-3172F7A50749}"/>
              </a:ext>
            </a:extLst>
          </p:cNvPr>
          <p:cNvSpPr>
            <a:spLocks noGrp="1"/>
          </p:cNvSpPr>
          <p:nvPr>
            <p:ph type="title"/>
          </p:nvPr>
        </p:nvSpPr>
        <p:spPr/>
        <p:txBody>
          <a:bodyPr/>
          <a:lstStyle/>
          <a:p>
            <a:r>
              <a:rPr lang="es-MX" dirty="0"/>
              <a:t>¿Cómo utilizar JS?</a:t>
            </a:r>
          </a:p>
        </p:txBody>
      </p:sp>
      <p:sp>
        <p:nvSpPr>
          <p:cNvPr id="3" name="Marcador de contenido 2">
            <a:extLst>
              <a:ext uri="{FF2B5EF4-FFF2-40B4-BE49-F238E27FC236}">
                <a16:creationId xmlns:a16="http://schemas.microsoft.com/office/drawing/2014/main" id="{353A9ED6-02B3-C913-58C9-2A8C2D9DBC1E}"/>
              </a:ext>
            </a:extLst>
          </p:cNvPr>
          <p:cNvSpPr>
            <a:spLocks noGrp="1"/>
          </p:cNvSpPr>
          <p:nvPr>
            <p:ph idx="1"/>
          </p:nvPr>
        </p:nvSpPr>
        <p:spPr/>
        <p:txBody>
          <a:bodyPr>
            <a:normAutofit fontScale="55000" lnSpcReduction="20000"/>
          </a:bodyPr>
          <a:lstStyle/>
          <a:p>
            <a:pPr marL="0" indent="0">
              <a:buNone/>
            </a:pPr>
            <a:r>
              <a:rPr lang="es-MX" dirty="0"/>
              <a:t>&lt;</a:t>
            </a:r>
            <a:r>
              <a:rPr lang="es-MX" dirty="0" err="1"/>
              <a:t>html</a:t>
            </a:r>
            <a:r>
              <a:rPr lang="es-MX" dirty="0"/>
              <a:t>&gt;</a:t>
            </a:r>
          </a:p>
          <a:p>
            <a:pPr marL="0" indent="0">
              <a:buNone/>
            </a:pPr>
            <a:r>
              <a:rPr lang="es-MX" dirty="0"/>
              <a:t>  &lt;head&gt;</a:t>
            </a:r>
          </a:p>
          <a:p>
            <a:pPr marL="0" indent="0">
              <a:buNone/>
            </a:pPr>
            <a:r>
              <a:rPr lang="es-MX" dirty="0"/>
              <a:t>    &lt;</a:t>
            </a:r>
            <a:r>
              <a:rPr lang="es-MX" dirty="0" err="1"/>
              <a:t>title</a:t>
            </a:r>
            <a:r>
              <a:rPr lang="es-MX" dirty="0"/>
              <a:t>&gt;Título de la página&lt;/</a:t>
            </a:r>
            <a:r>
              <a:rPr lang="es-MX" dirty="0" err="1"/>
              <a:t>title</a:t>
            </a:r>
            <a:r>
              <a:rPr lang="es-MX" dirty="0"/>
              <a:t>&gt;</a:t>
            </a:r>
          </a:p>
          <a:p>
            <a:pPr marL="0" indent="0">
              <a:buNone/>
            </a:pPr>
            <a:r>
              <a:rPr lang="es-MX" dirty="0"/>
              <a:t>    &lt;script&gt;</a:t>
            </a:r>
          </a:p>
          <a:p>
            <a:pPr marL="0" indent="0">
              <a:buNone/>
            </a:pPr>
            <a:r>
              <a:rPr lang="es-MX" dirty="0"/>
              <a:t>      console.log("¡Hola!");</a:t>
            </a:r>
          </a:p>
          <a:p>
            <a:pPr marL="0" indent="0">
              <a:buNone/>
            </a:pPr>
            <a:r>
              <a:rPr lang="es-MX" dirty="0"/>
              <a:t>    &lt;/script&gt;</a:t>
            </a:r>
          </a:p>
          <a:p>
            <a:pPr marL="0" indent="0">
              <a:buNone/>
            </a:pPr>
            <a:r>
              <a:rPr lang="es-MX" dirty="0"/>
              <a:t>  &lt;/head&gt;</a:t>
            </a:r>
          </a:p>
          <a:p>
            <a:pPr marL="0" indent="0">
              <a:buNone/>
            </a:pPr>
            <a:r>
              <a:rPr lang="es-MX" dirty="0"/>
              <a:t>  &lt;</a:t>
            </a:r>
            <a:r>
              <a:rPr lang="es-MX" dirty="0" err="1"/>
              <a:t>body</a:t>
            </a:r>
            <a:r>
              <a:rPr lang="es-MX" dirty="0"/>
              <a:t>&gt;</a:t>
            </a:r>
          </a:p>
          <a:p>
            <a:pPr marL="0" indent="0">
              <a:buNone/>
            </a:pPr>
            <a:r>
              <a:rPr lang="es-MX" dirty="0"/>
              <a:t>    &lt;p&gt;Ejemplo de texto.&lt;/p&gt;</a:t>
            </a:r>
          </a:p>
          <a:p>
            <a:pPr marL="0" indent="0">
              <a:buNone/>
            </a:pPr>
            <a:r>
              <a:rPr lang="es-MX" dirty="0"/>
              <a:t>  &lt;/</a:t>
            </a:r>
            <a:r>
              <a:rPr lang="es-MX" dirty="0" err="1"/>
              <a:t>body</a:t>
            </a:r>
            <a:r>
              <a:rPr lang="es-MX" dirty="0"/>
              <a:t>&gt;</a:t>
            </a:r>
          </a:p>
          <a:p>
            <a:pPr marL="0" indent="0">
              <a:buNone/>
            </a:pPr>
            <a:r>
              <a:rPr lang="es-MX" dirty="0"/>
              <a:t>&lt;/</a:t>
            </a:r>
            <a:r>
              <a:rPr lang="es-MX" dirty="0" err="1"/>
              <a:t>html</a:t>
            </a:r>
            <a:r>
              <a:rPr lang="es-MX" dirty="0"/>
              <a:t>&gt;</a:t>
            </a:r>
          </a:p>
          <a:p>
            <a:endParaRPr lang="es-MX" dirty="0"/>
          </a:p>
        </p:txBody>
      </p:sp>
    </p:spTree>
    <p:extLst>
      <p:ext uri="{BB962C8B-B14F-4D97-AF65-F5344CB8AC3E}">
        <p14:creationId xmlns:p14="http://schemas.microsoft.com/office/powerpoint/2010/main" val="22841179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3B3E4D-A9AC-27B7-CA5D-A5ACBA72933F}"/>
              </a:ext>
            </a:extLst>
          </p:cNvPr>
          <p:cNvSpPr>
            <a:spLocks noGrp="1"/>
          </p:cNvSpPr>
          <p:nvPr>
            <p:ph type="title"/>
          </p:nvPr>
        </p:nvSpPr>
        <p:spPr/>
        <p:txBody>
          <a:bodyPr/>
          <a:lstStyle/>
          <a:p>
            <a:endParaRPr lang="es-MX"/>
          </a:p>
        </p:txBody>
      </p:sp>
      <p:sp>
        <p:nvSpPr>
          <p:cNvPr id="3" name="Marcador de contenido 2">
            <a:extLst>
              <a:ext uri="{FF2B5EF4-FFF2-40B4-BE49-F238E27FC236}">
                <a16:creationId xmlns:a16="http://schemas.microsoft.com/office/drawing/2014/main" id="{3D093552-A235-5477-120A-4DE8B3638FA5}"/>
              </a:ext>
            </a:extLst>
          </p:cNvPr>
          <p:cNvSpPr>
            <a:spLocks noGrp="1"/>
          </p:cNvSpPr>
          <p:nvPr>
            <p:ph idx="1"/>
          </p:nvPr>
        </p:nvSpPr>
        <p:spPr/>
        <p:txBody>
          <a:bodyPr>
            <a:normAutofit fontScale="70000" lnSpcReduction="20000"/>
          </a:bodyPr>
          <a:lstStyle/>
          <a:p>
            <a:pPr marL="0" indent="0">
              <a:buNone/>
            </a:pPr>
            <a:r>
              <a:rPr lang="es-MX" dirty="0"/>
              <a:t>&lt;</a:t>
            </a:r>
            <a:r>
              <a:rPr lang="es-MX" dirty="0" err="1"/>
              <a:t>html</a:t>
            </a:r>
            <a:r>
              <a:rPr lang="es-MX" dirty="0"/>
              <a:t>&gt;</a:t>
            </a:r>
          </a:p>
          <a:p>
            <a:pPr marL="0" indent="0">
              <a:buNone/>
            </a:pPr>
            <a:r>
              <a:rPr lang="es-MX" dirty="0"/>
              <a:t>  &lt;head&gt;</a:t>
            </a:r>
          </a:p>
          <a:p>
            <a:pPr marL="0" indent="0">
              <a:buNone/>
            </a:pPr>
            <a:r>
              <a:rPr lang="es-MX" dirty="0"/>
              <a:t>    &lt;</a:t>
            </a:r>
            <a:r>
              <a:rPr lang="es-MX" dirty="0" err="1"/>
              <a:t>title</a:t>
            </a:r>
            <a:r>
              <a:rPr lang="es-MX" dirty="0"/>
              <a:t>&gt;Título de la página&lt;/</a:t>
            </a:r>
            <a:r>
              <a:rPr lang="es-MX" dirty="0" err="1"/>
              <a:t>title</a:t>
            </a:r>
            <a:r>
              <a:rPr lang="es-MX" dirty="0"/>
              <a:t>&gt;</a:t>
            </a:r>
          </a:p>
          <a:p>
            <a:pPr marL="0" indent="0">
              <a:buNone/>
            </a:pPr>
            <a:r>
              <a:rPr lang="es-MX" dirty="0"/>
              <a:t>    &lt;script </a:t>
            </a:r>
            <a:r>
              <a:rPr lang="es-MX" dirty="0" err="1"/>
              <a:t>src</a:t>
            </a:r>
            <a:r>
              <a:rPr lang="es-MX" dirty="0"/>
              <a:t>="</a:t>
            </a:r>
            <a:r>
              <a:rPr lang="es-MX" dirty="0" err="1"/>
              <a:t>js</a:t>
            </a:r>
            <a:r>
              <a:rPr lang="es-MX" dirty="0"/>
              <a:t>/index.js"&gt;&lt;/script&gt;</a:t>
            </a:r>
          </a:p>
          <a:p>
            <a:pPr marL="0" indent="0">
              <a:buNone/>
            </a:pPr>
            <a:r>
              <a:rPr lang="es-MX" dirty="0"/>
              <a:t>  &lt;/head&gt;</a:t>
            </a:r>
          </a:p>
          <a:p>
            <a:pPr marL="0" indent="0">
              <a:buNone/>
            </a:pPr>
            <a:r>
              <a:rPr lang="es-MX" dirty="0"/>
              <a:t>  &lt;</a:t>
            </a:r>
            <a:r>
              <a:rPr lang="es-MX" dirty="0" err="1"/>
              <a:t>body</a:t>
            </a:r>
            <a:r>
              <a:rPr lang="es-MX" dirty="0"/>
              <a:t>&gt;</a:t>
            </a:r>
          </a:p>
          <a:p>
            <a:pPr marL="0" indent="0">
              <a:buNone/>
            </a:pPr>
            <a:r>
              <a:rPr lang="es-MX" dirty="0"/>
              <a:t>    &lt;p&gt;Ejemplo de texto.&lt;/p&gt;</a:t>
            </a:r>
          </a:p>
          <a:p>
            <a:pPr marL="0" indent="0">
              <a:buNone/>
            </a:pPr>
            <a:r>
              <a:rPr lang="es-MX" dirty="0"/>
              <a:t>  &lt;/</a:t>
            </a:r>
            <a:r>
              <a:rPr lang="es-MX" dirty="0" err="1"/>
              <a:t>body</a:t>
            </a:r>
            <a:r>
              <a:rPr lang="es-MX" dirty="0"/>
              <a:t>&gt;</a:t>
            </a:r>
          </a:p>
          <a:p>
            <a:pPr marL="0" indent="0">
              <a:buNone/>
            </a:pPr>
            <a:r>
              <a:rPr lang="es-MX" dirty="0"/>
              <a:t>&lt;/</a:t>
            </a:r>
            <a:r>
              <a:rPr lang="es-MX" dirty="0" err="1"/>
              <a:t>html</a:t>
            </a:r>
            <a:r>
              <a:rPr lang="es-MX" dirty="0"/>
              <a:t>&gt;</a:t>
            </a:r>
          </a:p>
          <a:p>
            <a:pPr marL="0" indent="0">
              <a:buNone/>
            </a:pPr>
            <a:endParaRPr lang="es-MX" dirty="0"/>
          </a:p>
        </p:txBody>
      </p:sp>
    </p:spTree>
    <p:extLst>
      <p:ext uri="{BB962C8B-B14F-4D97-AF65-F5344CB8AC3E}">
        <p14:creationId xmlns:p14="http://schemas.microsoft.com/office/powerpoint/2010/main" val="129849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descr="Interfaz de usuario gráfica, Texto&#10;&#10;El contenido generado por IA puede ser incorrecto.">
            <a:extLst>
              <a:ext uri="{FF2B5EF4-FFF2-40B4-BE49-F238E27FC236}">
                <a16:creationId xmlns:a16="http://schemas.microsoft.com/office/drawing/2014/main" id="{13D3DD91-DC18-D01D-D2FE-D81B715CB69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35605" y="368605"/>
            <a:ext cx="6120789" cy="6120789"/>
          </a:xfrm>
        </p:spPr>
      </p:pic>
    </p:spTree>
    <p:extLst>
      <p:ext uri="{BB962C8B-B14F-4D97-AF65-F5344CB8AC3E}">
        <p14:creationId xmlns:p14="http://schemas.microsoft.com/office/powerpoint/2010/main" val="6477331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C945D0-61FF-6E54-CD3E-7E318D6F09DA}"/>
              </a:ext>
            </a:extLst>
          </p:cNvPr>
          <p:cNvSpPr>
            <a:spLocks noGrp="1"/>
          </p:cNvSpPr>
          <p:nvPr>
            <p:ph type="title"/>
          </p:nvPr>
        </p:nvSpPr>
        <p:spPr/>
        <p:txBody>
          <a:bodyPr/>
          <a:lstStyle/>
          <a:p>
            <a:r>
              <a:rPr lang="es-MX" dirty="0"/>
              <a:t>¿Qué es Node.js?</a:t>
            </a:r>
          </a:p>
        </p:txBody>
      </p:sp>
      <p:sp>
        <p:nvSpPr>
          <p:cNvPr id="3" name="Marcador de contenido 2">
            <a:extLst>
              <a:ext uri="{FF2B5EF4-FFF2-40B4-BE49-F238E27FC236}">
                <a16:creationId xmlns:a16="http://schemas.microsoft.com/office/drawing/2014/main" id="{F55BE1AB-6938-F6A6-62FD-E1EE4E07E785}"/>
              </a:ext>
            </a:extLst>
          </p:cNvPr>
          <p:cNvSpPr>
            <a:spLocks noGrp="1"/>
          </p:cNvSpPr>
          <p:nvPr>
            <p:ph idx="1"/>
          </p:nvPr>
        </p:nvSpPr>
        <p:spPr/>
        <p:txBody>
          <a:bodyPr>
            <a:normAutofit fontScale="85000" lnSpcReduction="10000"/>
          </a:bodyPr>
          <a:lstStyle/>
          <a:p>
            <a:r>
              <a:rPr lang="es-MX" dirty="0"/>
              <a:t>Al ser JavaScript un lenguaje popularmente conocido para construir aplicaciones web más interactivas, JavaScript tiene un fuerte enfoque en el Front-</a:t>
            </a:r>
            <a:r>
              <a:rPr lang="es-MX" dirty="0" err="1"/>
              <a:t>end</a:t>
            </a:r>
            <a:r>
              <a:rPr lang="es-MX" dirty="0"/>
              <a:t> ( </a:t>
            </a:r>
            <a:r>
              <a:rPr lang="es-MX" i="1" dirty="0"/>
              <a:t>lado del cliente</a:t>
            </a:r>
            <a:r>
              <a:rPr lang="es-MX" dirty="0"/>
              <a:t> ), es decir, se usa comúnmente para ejecutarse en el “lado del cliente” de la aplicación. Con la evolución de las tecnologías web, se hizo posible hacer que </a:t>
            </a:r>
            <a:r>
              <a:rPr lang="es-MX" b="1" dirty="0"/>
              <a:t>JavaScript también se ejecutara en el Back-</a:t>
            </a:r>
            <a:r>
              <a:rPr lang="es-MX" b="1" dirty="0" err="1"/>
              <a:t>end</a:t>
            </a:r>
            <a:r>
              <a:rPr lang="es-MX" dirty="0"/>
              <a:t> , y es en este momento de consolidación de tecnologías y soluciones que aparece Node.js.</a:t>
            </a:r>
          </a:p>
          <a:p>
            <a:r>
              <a:rPr lang="es-MX" dirty="0"/>
              <a:t>Node.js es un </a:t>
            </a:r>
            <a:r>
              <a:rPr lang="es-MX" b="1" dirty="0"/>
              <a:t>entorno de ejecución de código</a:t>
            </a:r>
            <a:r>
              <a:rPr lang="es-MX" dirty="0"/>
              <a:t> JavaScript </a:t>
            </a:r>
            <a:r>
              <a:rPr lang="es-MX" i="1" dirty="0"/>
              <a:t>del lado del servidor</a:t>
            </a:r>
            <a:r>
              <a:rPr lang="es-MX" dirty="0"/>
              <a:t> , lo que en la práctica se refleja en la posibilidad de crear aplicaciones </a:t>
            </a:r>
            <a:r>
              <a:rPr lang="es-MX" i="1" dirty="0"/>
              <a:t>independientes</a:t>
            </a:r>
            <a:r>
              <a:rPr lang="es-MX" dirty="0"/>
              <a:t> (autosuficientes) en una máquina servidor, sin necesidad de un navegador.</a:t>
            </a:r>
          </a:p>
        </p:txBody>
      </p:sp>
    </p:spTree>
    <p:extLst>
      <p:ext uri="{BB962C8B-B14F-4D97-AF65-F5344CB8AC3E}">
        <p14:creationId xmlns:p14="http://schemas.microsoft.com/office/powerpoint/2010/main" val="3586560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73EDCA-8BB7-567E-2083-D81122A6E0C7}"/>
              </a:ext>
            </a:extLst>
          </p:cNvPr>
          <p:cNvSpPr>
            <a:spLocks noGrp="1"/>
          </p:cNvSpPr>
          <p:nvPr>
            <p:ph type="title"/>
          </p:nvPr>
        </p:nvSpPr>
        <p:spPr/>
        <p:txBody>
          <a:bodyPr/>
          <a:lstStyle/>
          <a:p>
            <a:r>
              <a:rPr lang="es-MX" dirty="0"/>
              <a:t>Usos principales de Node.js</a:t>
            </a:r>
          </a:p>
        </p:txBody>
      </p:sp>
      <p:sp>
        <p:nvSpPr>
          <p:cNvPr id="3" name="Marcador de contenido 2">
            <a:extLst>
              <a:ext uri="{FF2B5EF4-FFF2-40B4-BE49-F238E27FC236}">
                <a16:creationId xmlns:a16="http://schemas.microsoft.com/office/drawing/2014/main" id="{9B552890-4626-62E7-E3B3-C5FBD045CEF3}"/>
              </a:ext>
            </a:extLst>
          </p:cNvPr>
          <p:cNvSpPr>
            <a:spLocks noGrp="1"/>
          </p:cNvSpPr>
          <p:nvPr>
            <p:ph idx="1"/>
          </p:nvPr>
        </p:nvSpPr>
        <p:spPr/>
        <p:txBody>
          <a:bodyPr>
            <a:normAutofit fontScale="62500" lnSpcReduction="20000"/>
          </a:bodyPr>
          <a:lstStyle/>
          <a:p>
            <a:r>
              <a:rPr lang="es-MX" dirty="0"/>
              <a:t>Desarrollo de Back-</a:t>
            </a:r>
            <a:r>
              <a:rPr lang="es-MX" dirty="0" err="1"/>
              <a:t>end</a:t>
            </a:r>
            <a:r>
              <a:rPr lang="es-MX" dirty="0"/>
              <a:t>: Construir la lógica del lado del servidor, gestionar bases de datos, autenticación y enrutamiento. </a:t>
            </a:r>
          </a:p>
          <a:p>
            <a:r>
              <a:rPr lang="es-MX" dirty="0"/>
              <a:t>Aplicaciones en Tiempo Real: Chats, juegos online, y herramientas de colaboración, por su manejo eficiente de conexiones simultáneas. </a:t>
            </a:r>
          </a:p>
          <a:p>
            <a:r>
              <a:rPr lang="es-MX" dirty="0" err="1"/>
              <a:t>APIs</a:t>
            </a:r>
            <a:r>
              <a:rPr lang="es-MX" dirty="0"/>
              <a:t> y Microservicios: Crear </a:t>
            </a:r>
            <a:r>
              <a:rPr lang="es-MX" dirty="0" err="1"/>
              <a:t>APIs</a:t>
            </a:r>
            <a:r>
              <a:rPr lang="es-MX" dirty="0"/>
              <a:t> </a:t>
            </a:r>
            <a:r>
              <a:rPr lang="es-MX" dirty="0" err="1"/>
              <a:t>RESTful</a:t>
            </a:r>
            <a:r>
              <a:rPr lang="es-MX" dirty="0"/>
              <a:t> y microservicios de forma eficiente, usando </a:t>
            </a:r>
            <a:r>
              <a:rPr lang="es-MX" dirty="0" err="1"/>
              <a:t>frameworks</a:t>
            </a:r>
            <a:r>
              <a:rPr lang="es-MX" dirty="0"/>
              <a:t> como Express.js. </a:t>
            </a:r>
          </a:p>
          <a:p>
            <a:r>
              <a:rPr lang="es-MX" dirty="0" err="1"/>
              <a:t>Streaming</a:t>
            </a:r>
            <a:r>
              <a:rPr lang="es-MX" dirty="0"/>
              <a:t> de Datos: Ideal para servicios de </a:t>
            </a:r>
            <a:r>
              <a:rPr lang="es-MX" dirty="0" err="1"/>
              <a:t>streaming</a:t>
            </a:r>
            <a:r>
              <a:rPr lang="es-MX" dirty="0"/>
              <a:t> (video, audio) debido a su velocidad y API de </a:t>
            </a:r>
            <a:r>
              <a:rPr lang="es-MX" dirty="0" err="1"/>
              <a:t>streaming</a:t>
            </a:r>
            <a:r>
              <a:rPr lang="es-MX" dirty="0"/>
              <a:t> nativa, como usa Netflix. </a:t>
            </a:r>
          </a:p>
          <a:p>
            <a:r>
              <a:rPr lang="es-MX" dirty="0"/>
              <a:t>Aplicaciones de Página Única (SPA): Gestiona solicitudes en segundo plano para componentes, mejorando la experiencia. </a:t>
            </a:r>
          </a:p>
          <a:p>
            <a:r>
              <a:rPr lang="es-MX" dirty="0"/>
              <a:t>Herramientas de Desarrollo: Es fundamental para herramientas de automatización y compilación en proyectos modernos. </a:t>
            </a:r>
          </a:p>
        </p:txBody>
      </p:sp>
    </p:spTree>
    <p:extLst>
      <p:ext uri="{BB962C8B-B14F-4D97-AF65-F5344CB8AC3E}">
        <p14:creationId xmlns:p14="http://schemas.microsoft.com/office/powerpoint/2010/main" val="1213413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4EFF1B-490A-46FA-088F-B34C76ABF306}"/>
              </a:ext>
            </a:extLst>
          </p:cNvPr>
          <p:cNvSpPr>
            <a:spLocks noGrp="1"/>
          </p:cNvSpPr>
          <p:nvPr>
            <p:ph type="title"/>
          </p:nvPr>
        </p:nvSpPr>
        <p:spPr/>
        <p:txBody>
          <a:bodyPr/>
          <a:lstStyle/>
          <a:p>
            <a:r>
              <a:rPr lang="es-MX" dirty="0"/>
              <a:t>¿Cómo instalar Node.js?</a:t>
            </a:r>
          </a:p>
        </p:txBody>
      </p:sp>
      <p:sp>
        <p:nvSpPr>
          <p:cNvPr id="3" name="Marcador de contenido 2">
            <a:extLst>
              <a:ext uri="{FF2B5EF4-FFF2-40B4-BE49-F238E27FC236}">
                <a16:creationId xmlns:a16="http://schemas.microsoft.com/office/drawing/2014/main" id="{4611DC3F-7306-9152-1191-B149DD49E12C}"/>
              </a:ext>
            </a:extLst>
          </p:cNvPr>
          <p:cNvSpPr>
            <a:spLocks noGrp="1"/>
          </p:cNvSpPr>
          <p:nvPr>
            <p:ph idx="1"/>
          </p:nvPr>
        </p:nvSpPr>
        <p:spPr/>
        <p:txBody>
          <a:bodyPr>
            <a:normAutofit fontScale="47500" lnSpcReduction="20000"/>
          </a:bodyPr>
          <a:lstStyle/>
          <a:p>
            <a:r>
              <a:rPr lang="es-MX" b="1" dirty="0"/>
              <a:t>Descarga</a:t>
            </a:r>
            <a:r>
              <a:rPr lang="es-MX" dirty="0"/>
              <a:t>: Ve a la página de descargas de Node.js y elige la versión LTS (Recomendada para la mayoría de usuarios) para Windows, macOS o Linux.</a:t>
            </a:r>
          </a:p>
          <a:p>
            <a:r>
              <a:rPr lang="es-MX" b="1" dirty="0"/>
              <a:t>Instala</a:t>
            </a:r>
            <a:r>
              <a:rPr lang="es-MX" dirty="0"/>
              <a:t>: Ejecuta el archivo descargado y sigue las instrucciones del asistente, asegurándote de dejar marcadas las opciones para instalar </a:t>
            </a:r>
            <a:r>
              <a:rPr lang="es-MX" dirty="0" err="1"/>
              <a:t>npm</a:t>
            </a:r>
            <a:r>
              <a:rPr lang="es-MX" dirty="0"/>
              <a:t> y añadir Node.js al PATH del sistema.</a:t>
            </a:r>
          </a:p>
          <a:p>
            <a:r>
              <a:rPr lang="es-MX" b="1" dirty="0"/>
              <a:t>Verifica</a:t>
            </a:r>
            <a:r>
              <a:rPr lang="es-MX" dirty="0"/>
              <a:t>: Abre tu terminal (CMD en Windows, Terminal en Mac/Linux) y escribe:</a:t>
            </a:r>
          </a:p>
          <a:p>
            <a:r>
              <a:rPr lang="es-MX" dirty="0" err="1"/>
              <a:t>node</a:t>
            </a:r>
            <a:r>
              <a:rPr lang="es-MX" dirty="0"/>
              <a:t> -v (para Node.js)</a:t>
            </a:r>
          </a:p>
          <a:p>
            <a:r>
              <a:rPr lang="es-MX" dirty="0" err="1"/>
              <a:t>npm</a:t>
            </a:r>
            <a:r>
              <a:rPr lang="es-MX" dirty="0"/>
              <a:t> -v (para </a:t>
            </a:r>
            <a:r>
              <a:rPr lang="es-MX" dirty="0" err="1"/>
              <a:t>npm</a:t>
            </a:r>
            <a:r>
              <a:rPr lang="es-MX" dirty="0"/>
              <a:t>)</a:t>
            </a:r>
          </a:p>
          <a:p>
            <a:r>
              <a:rPr lang="es-MX" dirty="0"/>
              <a:t>Deberías ver los números de versión.</a:t>
            </a:r>
          </a:p>
          <a:p>
            <a:r>
              <a:rPr lang="es-MX" b="1" dirty="0"/>
              <a:t>Para</a:t>
            </a:r>
            <a:r>
              <a:rPr lang="es-MX" dirty="0"/>
              <a:t> </a:t>
            </a:r>
            <a:r>
              <a:rPr lang="es-MX" b="1" dirty="0"/>
              <a:t>sistemas</a:t>
            </a:r>
            <a:r>
              <a:rPr lang="es-MX" dirty="0"/>
              <a:t> </a:t>
            </a:r>
            <a:r>
              <a:rPr lang="es-MX" b="1" dirty="0"/>
              <a:t>específicos</a:t>
            </a:r>
          </a:p>
          <a:p>
            <a:r>
              <a:rPr lang="es-MX" dirty="0"/>
              <a:t>Windows/macOS: Usa el instalador del sitio oficial.</a:t>
            </a:r>
          </a:p>
          <a:p>
            <a:r>
              <a:rPr lang="es-MX" dirty="0"/>
              <a:t>macOS (con </a:t>
            </a:r>
            <a:r>
              <a:rPr lang="es-MX" dirty="0" err="1"/>
              <a:t>Homebrew</a:t>
            </a:r>
            <a:r>
              <a:rPr lang="es-MX" dirty="0"/>
              <a:t>): Abre la terminal y ejecuta </a:t>
            </a:r>
            <a:r>
              <a:rPr lang="es-MX" dirty="0" err="1"/>
              <a:t>brew</a:t>
            </a:r>
            <a:r>
              <a:rPr lang="es-MX" dirty="0"/>
              <a:t> </a:t>
            </a:r>
            <a:r>
              <a:rPr lang="es-MX" dirty="0" err="1"/>
              <a:t>install</a:t>
            </a:r>
            <a:r>
              <a:rPr lang="es-MX" dirty="0"/>
              <a:t> </a:t>
            </a:r>
            <a:r>
              <a:rPr lang="es-MX" dirty="0" err="1"/>
              <a:t>node</a:t>
            </a:r>
            <a:r>
              <a:rPr lang="es-MX" dirty="0"/>
              <a:t>.</a:t>
            </a:r>
          </a:p>
          <a:p>
            <a:r>
              <a:rPr lang="es-MX" dirty="0"/>
              <a:t>Linux (Ubuntu/Debian): Usa sudo </a:t>
            </a:r>
            <a:r>
              <a:rPr lang="es-MX" dirty="0" err="1"/>
              <a:t>apt</a:t>
            </a:r>
            <a:r>
              <a:rPr lang="es-MX" dirty="0"/>
              <a:t> </a:t>
            </a:r>
            <a:r>
              <a:rPr lang="es-MX" dirty="0" err="1"/>
              <a:t>update</a:t>
            </a:r>
            <a:r>
              <a:rPr lang="es-MX" dirty="0"/>
              <a:t> &amp;&amp; sudo </a:t>
            </a:r>
            <a:r>
              <a:rPr lang="es-MX" dirty="0" err="1"/>
              <a:t>apt</a:t>
            </a:r>
            <a:r>
              <a:rPr lang="es-MX" dirty="0"/>
              <a:t> </a:t>
            </a:r>
            <a:r>
              <a:rPr lang="es-MX" dirty="0" err="1"/>
              <a:t>install</a:t>
            </a:r>
            <a:r>
              <a:rPr lang="es-MX" dirty="0"/>
              <a:t> </a:t>
            </a:r>
            <a:r>
              <a:rPr lang="es-MX" dirty="0" err="1"/>
              <a:t>nodejs</a:t>
            </a:r>
            <a:r>
              <a:rPr lang="es-MX" dirty="0"/>
              <a:t> </a:t>
            </a:r>
            <a:r>
              <a:rPr lang="es-MX" dirty="0" err="1"/>
              <a:t>npm</a:t>
            </a:r>
            <a:r>
              <a:rPr lang="es-MX" dirty="0"/>
              <a:t>.</a:t>
            </a:r>
          </a:p>
        </p:txBody>
      </p:sp>
    </p:spTree>
    <p:extLst>
      <p:ext uri="{BB962C8B-B14F-4D97-AF65-F5344CB8AC3E}">
        <p14:creationId xmlns:p14="http://schemas.microsoft.com/office/powerpoint/2010/main" val="393616891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o">
  <a:themeElements>
    <a:clrScheme name="Circuito">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o">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o">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Circuito</Template>
  <TotalTime>171</TotalTime>
  <Words>814</Words>
  <Application>Microsoft Office PowerPoint</Application>
  <PresentationFormat>Panorámica</PresentationFormat>
  <Paragraphs>61</Paragraphs>
  <Slides>10</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10</vt:i4>
      </vt:variant>
    </vt:vector>
  </HeadingPairs>
  <TitlesOfParts>
    <vt:vector size="13" baseType="lpstr">
      <vt:lpstr>Arial</vt:lpstr>
      <vt:lpstr>Tw Cen MT</vt:lpstr>
      <vt:lpstr>Circuito</vt:lpstr>
      <vt:lpstr>Javascript y NodeJS</vt:lpstr>
      <vt:lpstr>¿Qué es JavaScript?</vt:lpstr>
      <vt:lpstr>¿Para que se utiliza?</vt:lpstr>
      <vt:lpstr>Ejemplos de uso</vt:lpstr>
      <vt:lpstr>¿Cómo utilizar JS?</vt:lpstr>
      <vt:lpstr>Presentación de PowerPoint</vt:lpstr>
      <vt:lpstr>Presentación de PowerPoint</vt:lpstr>
      <vt:lpstr>¿Qué es Node.js?</vt:lpstr>
      <vt:lpstr>Usos principales de Node.js</vt:lpstr>
      <vt:lpstr>¿Cómo instalar Node.js?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Roberto Martinez Mendez</dc:creator>
  <cp:lastModifiedBy>Roberto Martinez Mendez</cp:lastModifiedBy>
  <cp:revision>2</cp:revision>
  <dcterms:created xsi:type="dcterms:W3CDTF">2026-01-26T20:44:53Z</dcterms:created>
  <dcterms:modified xsi:type="dcterms:W3CDTF">2026-01-26T23:36:41Z</dcterms:modified>
</cp:coreProperties>
</file>